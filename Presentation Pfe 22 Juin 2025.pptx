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80" r:id="rId5"/>
    <p:sldId id="259" r:id="rId6"/>
    <p:sldId id="260" r:id="rId7"/>
    <p:sldId id="281" r:id="rId8"/>
    <p:sldId id="282" r:id="rId9"/>
    <p:sldId id="283" r:id="rId10"/>
    <p:sldId id="284" r:id="rId11"/>
    <p:sldId id="285" r:id="rId12"/>
    <p:sldId id="286" r:id="rId13"/>
    <p:sldId id="264" r:id="rId14"/>
    <p:sldId id="287" r:id="rId15"/>
    <p:sldId id="288" r:id="rId16"/>
    <p:sldId id="292" r:id="rId17"/>
    <p:sldId id="267" r:id="rId18"/>
    <p:sldId id="289" r:id="rId19"/>
    <p:sldId id="268" r:id="rId20"/>
    <p:sldId id="290" r:id="rId21"/>
    <p:sldId id="269" r:id="rId22"/>
    <p:sldId id="291" r:id="rId23"/>
    <p:sldId id="271" r:id="rId24"/>
    <p:sldId id="270" r:id="rId25"/>
    <p:sldId id="272" r:id="rId26"/>
    <p:sldId id="293" r:id="rId27"/>
    <p:sldId id="273" r:id="rId28"/>
    <p:sldId id="294" r:id="rId29"/>
    <p:sldId id="295" r:id="rId30"/>
    <p:sldId id="274" r:id="rId31"/>
    <p:sldId id="275" r:id="rId32"/>
    <p:sldId id="276" r:id="rId33"/>
    <p:sldId id="277" r:id="rId34"/>
    <p:sldId id="278" r:id="rId35"/>
    <p:sldId id="27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2ABA8-54FF-4C43-B228-C7533695AB3A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AC8A65-8903-49BD-9606-4089717B3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56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AC8A65-8903-49BD-9606-4089717B31F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5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AC8A65-8903-49BD-9606-4089717B31F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1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F1A2-82E8-BA27-D614-4945A743D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70593-B268-735A-7D31-B1729509B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69AF0-83BC-2FF6-796E-14604F242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2434-76AA-4B9F-84AA-558E929459D3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91AEC-3738-B03A-0B40-D144EC076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BA8D5-8484-B3CD-D880-BBB9262E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49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6A98-F215-9BF9-C347-F6A3DE560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23EE4-9F1F-2E0B-6249-C9B4A48B7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15AE5-86BA-E9D9-088D-F14947E0E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9F30-16B6-4AC5-B743-D028FFE5B742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630C5-8ADF-E90B-EB8F-7FD442C84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8B946-A4E0-F60C-84A6-86014686E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20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CD5F9-1C5F-7172-6590-8151E569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F0E72-4BF3-5FF8-3AA4-86013BB61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EAFC4-0A83-4E82-9D2C-30DEFBF31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00A9-DD06-4881-8D3C-4A1DA994A2F6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5BEFC-00E3-1248-B5CB-B4280B238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5E671-E51D-68FC-24E0-1B975D33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71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775C2-8388-8C71-2F85-F677D5A5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867AF-9ED3-27DD-A14F-75939949B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98AE0-6A24-E580-5118-90CC7AF89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7CD05-1E9B-533B-40BB-B34609A62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3EAA-7C71-4CEF-A10F-F75594C815B7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C5DF5-0DE0-431A-7A66-4D8EFB034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C8899-095E-95F9-D05D-4054FD87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26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2DAE6-02A5-93A3-C59C-CD7AD4680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4D683-82A7-D840-D0BB-A8421322A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14A99-ADB0-98FC-F477-7EFD26999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3E7C1-4150-D979-E37B-CE1A14F66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02A3FB-1E41-3833-AFF7-B67D47E21A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BCDEA2-3B2E-0905-3B29-CA8871CEA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1C42-E294-4CBA-956B-9AC8DC99B626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3D09E-5A46-EBD6-66F3-C3CAA92C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2A310C-7383-59BC-8C2E-BDFFE8F7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91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D3D50-257D-1AF9-6B9C-1CC6D6EE0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C0170-A0D2-1177-1B73-B5BDC123E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0437B-7273-45EA-9E74-7E6A83F97E7F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46909-59A3-7633-22C3-073688096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0E78A-24D1-ADDE-9418-BD448F43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70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BF23A-A142-9B2A-B4BD-6151F01B0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2C14-3FB9-48A1-B695-1D3D47F928D9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9593C0-3C38-B783-F3B7-03552FEA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CABBB-2B1F-7032-C0AA-339D045B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709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B2B63-6D72-777A-03DB-8E4C0B20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92218-4F72-876A-B7D9-8D60FB6C6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DD6A7-BB57-B549-2BE7-92F9FB74D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8E739-05C0-77C0-1405-A48BF2F32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C1F35-B0BE-4820-9958-6B480FFAF5D9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E86E1-E331-D55A-A351-DF59A29B1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CEC92-5B0B-422A-8791-90230DFA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12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2417-1DD8-8CE8-EDB0-2D3C741FB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30D91E-E7BB-36C5-080A-89D9BE4A2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101B3-ECE2-3017-2BC5-5A4FE2DCB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FC826-DE30-0C48-C799-21078E2D8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D916-2483-4C9E-AC80-6C9107AE771C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C474D-EBF1-CCC7-6CAE-C95587163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A10B1-03E7-BE9A-226C-7C90A5B2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31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1179-E588-2EF7-2449-E6016416C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F8A30-8354-07A5-9236-F08206BC6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819E8-F426-4D59-C6C6-0FE0645C9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88B37-F84D-4D7A-A19F-676819988337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C1C8E-A926-AD3D-F399-46CD18CD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2903B-1BB2-7CFB-3740-FB71EC7C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37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D25A8F-68B9-998D-5DBF-B9212384B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868F5-F6AD-EA13-65A7-54EF033C6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DABAC-FA0C-F8A5-4232-0A203D23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09F4D-3B26-495C-AD3B-B42064AAE09F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56B76-AA99-DF0E-CECD-E1E853F9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21A0-FCA2-870D-CD36-121C3D26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01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18EAC5-BC8E-10F5-2EAD-23A1ACA9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02AA8-0BAF-9BF6-E02E-7E5E930A8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DF77-8F4A-B560-FC4B-CD2A565B7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80481-5138-4918-A58E-D217163979F1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B35A8-648A-6FCE-A3A5-6BC19878D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1F036-1522-7601-8B7E-4CCF0B67F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80474-F343-41EC-8C2B-5396EF099E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57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1.svg"/><Relationship Id="rId7" Type="http://schemas.openxmlformats.org/officeDocument/2006/relationships/image" Target="../media/image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10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9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9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9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9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1.svg"/><Relationship Id="rId7" Type="http://schemas.openxmlformats.org/officeDocument/2006/relationships/image" Target="../media/image9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9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0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1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9.sv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9.svg"/><Relationship Id="rId7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9.svg"/><Relationship Id="rId7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2.jpeg" descr="LOGO-USTO_Modif1">
            <a:extLst>
              <a:ext uri="{FF2B5EF4-FFF2-40B4-BE49-F238E27FC236}">
                <a16:creationId xmlns:a16="http://schemas.microsoft.com/office/drawing/2014/main" id="{F7FE8B74-4B29-1944-B7FE-55EAD628654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19742" cy="1622323"/>
          </a:xfrm>
          <a:prstGeom prst="rect">
            <a:avLst/>
          </a:prstGeom>
        </p:spPr>
      </p:pic>
      <p:pic>
        <p:nvPicPr>
          <p:cNvPr id="7" name="image1.jpeg">
            <a:extLst>
              <a:ext uri="{FF2B5EF4-FFF2-40B4-BE49-F238E27FC236}">
                <a16:creationId xmlns:a16="http://schemas.microsoft.com/office/drawing/2014/main" id="{36B708EF-C7CA-EC34-5783-87DE7A0085B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8168" y="0"/>
            <a:ext cx="1533832" cy="15805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DD80C09-5F48-205C-2903-EBC1E32AC111}"/>
              </a:ext>
            </a:extLst>
          </p:cNvPr>
          <p:cNvSpPr txBox="1"/>
          <p:nvPr/>
        </p:nvSpPr>
        <p:spPr>
          <a:xfrm>
            <a:off x="2551471" y="0"/>
            <a:ext cx="70890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noProof="0" dirty="0" err="1">
                <a:solidFill>
                  <a:schemeClr val="accent1">
                    <a:lumMod val="75000"/>
                  </a:schemeClr>
                </a:solidFill>
                <a:cs typeface="+mj-cs"/>
              </a:rPr>
              <a:t>وزارة</a:t>
            </a:r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 </a:t>
            </a:r>
            <a:r>
              <a:rPr lang="fr-FR" sz="1200" b="1" noProof="0" dirty="0" err="1">
                <a:solidFill>
                  <a:schemeClr val="accent1">
                    <a:lumMod val="75000"/>
                  </a:schemeClr>
                </a:solidFill>
                <a:cs typeface="+mj-cs"/>
              </a:rPr>
              <a:t>التعليم</a:t>
            </a:r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 </a:t>
            </a:r>
            <a:r>
              <a:rPr lang="fr-FR" sz="1200" b="1" noProof="0" dirty="0" err="1">
                <a:solidFill>
                  <a:schemeClr val="accent1">
                    <a:lumMod val="75000"/>
                  </a:schemeClr>
                </a:solidFill>
                <a:cs typeface="+mj-cs"/>
              </a:rPr>
              <a:t>العالي</a:t>
            </a:r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 </a:t>
            </a:r>
            <a:r>
              <a:rPr lang="fr-FR" sz="1200" b="1" noProof="0" dirty="0" err="1">
                <a:solidFill>
                  <a:schemeClr val="accent1">
                    <a:lumMod val="75000"/>
                  </a:schemeClr>
                </a:solidFill>
                <a:cs typeface="+mj-cs"/>
              </a:rPr>
              <a:t>والبحث</a:t>
            </a:r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 </a:t>
            </a:r>
            <a:r>
              <a:rPr lang="fr-FR" sz="1200" b="1" noProof="0" dirty="0" err="1">
                <a:solidFill>
                  <a:schemeClr val="accent1">
                    <a:lumMod val="75000"/>
                  </a:schemeClr>
                </a:solidFill>
                <a:cs typeface="+mj-cs"/>
              </a:rPr>
              <a:t>العلمي</a:t>
            </a:r>
            <a:endParaRPr lang="fr-FR" sz="1200" b="1" noProof="0" dirty="0">
              <a:solidFill>
                <a:schemeClr val="accent1">
                  <a:lumMod val="75000"/>
                </a:schemeClr>
              </a:solidFill>
              <a:cs typeface="+mj-cs"/>
            </a:endParaRPr>
          </a:p>
          <a:p>
            <a:pPr algn="ctr"/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 </a:t>
            </a:r>
            <a:r>
              <a:rPr lang="fr-FR" sz="1200" b="1" noProof="0" dirty="0" err="1">
                <a:solidFill>
                  <a:schemeClr val="accent1">
                    <a:lumMod val="75000"/>
                  </a:schemeClr>
                </a:solidFill>
                <a:cs typeface="+mj-cs"/>
              </a:rPr>
              <a:t>جامعة</a:t>
            </a:r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 </a:t>
            </a:r>
            <a:r>
              <a:rPr lang="fr-FR" sz="1200" b="1" noProof="0" dirty="0" err="1">
                <a:solidFill>
                  <a:schemeClr val="accent1">
                    <a:lumMod val="75000"/>
                  </a:schemeClr>
                </a:solidFill>
                <a:cs typeface="+mj-cs"/>
              </a:rPr>
              <a:t>وهران</a:t>
            </a:r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 </a:t>
            </a:r>
            <a:r>
              <a:rPr lang="fr-FR" sz="1200" b="1" noProof="0" dirty="0" err="1">
                <a:solidFill>
                  <a:schemeClr val="accent1">
                    <a:lumMod val="75000"/>
                  </a:schemeClr>
                </a:solidFill>
                <a:cs typeface="+mj-cs"/>
              </a:rPr>
              <a:t>للعلوم</a:t>
            </a:r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 </a:t>
            </a:r>
            <a:r>
              <a:rPr lang="fr-FR" sz="1200" b="1" noProof="0" dirty="0" err="1">
                <a:solidFill>
                  <a:schemeClr val="accent1">
                    <a:lumMod val="75000"/>
                  </a:schemeClr>
                </a:solidFill>
                <a:cs typeface="+mj-cs"/>
              </a:rPr>
              <a:t>والتكنولوجيا</a:t>
            </a:r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 </a:t>
            </a:r>
            <a:r>
              <a:rPr lang="fr-FR" sz="1200" b="1" noProof="0" dirty="0" err="1">
                <a:solidFill>
                  <a:schemeClr val="accent1">
                    <a:lumMod val="75000"/>
                  </a:schemeClr>
                </a:solidFill>
                <a:cs typeface="+mj-cs"/>
              </a:rPr>
              <a:t>محمد</a:t>
            </a:r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 </a:t>
            </a:r>
            <a:r>
              <a:rPr lang="fr-FR" sz="1200" b="1" noProof="0" dirty="0" err="1">
                <a:solidFill>
                  <a:schemeClr val="accent1">
                    <a:lumMod val="75000"/>
                  </a:schemeClr>
                </a:solidFill>
                <a:cs typeface="+mj-cs"/>
              </a:rPr>
              <a:t>بوضياف</a:t>
            </a:r>
            <a:endParaRPr lang="fr-FR" sz="1200" b="1" noProof="0" dirty="0">
              <a:solidFill>
                <a:schemeClr val="accent1">
                  <a:lumMod val="75000"/>
                </a:schemeClr>
              </a:solidFill>
              <a:cs typeface="+mj-cs"/>
            </a:endParaRPr>
          </a:p>
          <a:p>
            <a:pPr algn="ctr"/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République Algérienne Démocratique et Populaire </a:t>
            </a:r>
          </a:p>
          <a:p>
            <a:pPr algn="ctr"/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Ministère de l’enseignement Supérieur et de la Recherche Scientifique</a:t>
            </a:r>
          </a:p>
          <a:p>
            <a:pPr algn="ctr"/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Université des Sciences et de la Technologie d’Oran Mohamed BOUDIAF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7E53EC-F568-CF17-7F86-86B732B7AB6C}"/>
              </a:ext>
            </a:extLst>
          </p:cNvPr>
          <p:cNvSpPr txBox="1"/>
          <p:nvPr/>
        </p:nvSpPr>
        <p:spPr>
          <a:xfrm>
            <a:off x="2273710" y="934235"/>
            <a:ext cx="7644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FACULTÉ DE GÉNIE ELECTRIQUE </a:t>
            </a:r>
          </a:p>
          <a:p>
            <a:pPr algn="ctr"/>
            <a:r>
              <a:rPr lang="fr-FR" sz="1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DÉPARTEMENT D’ÉLECTRONIQUE</a:t>
            </a:r>
          </a:p>
          <a:p>
            <a:pPr algn="ctr"/>
            <a:r>
              <a:rPr lang="fr-FR" sz="1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Laboratoire LSI</a:t>
            </a:r>
            <a:endParaRPr lang="fr-FR" sz="1200" b="1" noProof="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5B757E-6B03-E6D5-983D-CFF4F86F4FDA}"/>
              </a:ext>
            </a:extLst>
          </p:cNvPr>
          <p:cNvSpPr txBox="1"/>
          <p:nvPr/>
        </p:nvSpPr>
        <p:spPr>
          <a:xfrm>
            <a:off x="-465864" y="4755399"/>
            <a:ext cx="62411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Présenté par :</a:t>
            </a:r>
          </a:p>
          <a:p>
            <a:pPr algn="ctr"/>
            <a:r>
              <a:rPr lang="fr-FR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 Louchene Wassim </a:t>
            </a:r>
          </a:p>
          <a:p>
            <a:pPr algn="ctr"/>
            <a:r>
              <a:rPr lang="fr-FR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 DALI Fethi Abdellatif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0BEEC0-FDBE-6AEB-FDA0-D18E0C338871}"/>
              </a:ext>
            </a:extLst>
          </p:cNvPr>
          <p:cNvSpPr txBox="1"/>
          <p:nvPr/>
        </p:nvSpPr>
        <p:spPr>
          <a:xfrm>
            <a:off x="2654710" y="6367386"/>
            <a:ext cx="6882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 2024-2025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E8B7F3F-FB35-6517-E134-EFEA262A2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285341"/>
              </p:ext>
            </p:extLst>
          </p:nvPr>
        </p:nvGraphicFramePr>
        <p:xfrm>
          <a:off x="5699760" y="4755399"/>
          <a:ext cx="6492240" cy="138294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798939">
                  <a:extLst>
                    <a:ext uri="{9D8B030D-6E8A-4147-A177-3AD203B41FA5}">
                      <a16:colId xmlns:a16="http://schemas.microsoft.com/office/drawing/2014/main" val="380909974"/>
                    </a:ext>
                  </a:extLst>
                </a:gridCol>
                <a:gridCol w="2693301">
                  <a:extLst>
                    <a:ext uri="{9D8B030D-6E8A-4147-A177-3AD203B41FA5}">
                      <a16:colId xmlns:a16="http://schemas.microsoft.com/office/drawing/2014/main" val="224620952"/>
                    </a:ext>
                  </a:extLst>
                </a:gridCol>
              </a:tblGrid>
              <a:tr h="307061">
                <a:tc>
                  <a:txBody>
                    <a:bodyPr/>
                    <a:lstStyle/>
                    <a:p>
                      <a:pPr marL="127000" marR="0" indent="0" algn="l">
                        <a:lnSpc>
                          <a:spcPts val="145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fr-FR" sz="1600" b="1" kern="0" noProof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</a:t>
                      </a:r>
                      <a:r>
                        <a:rPr lang="fr-FR" sz="1600" b="1" kern="0" spc="-15" noProof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OUSLIM MOHAMED</a:t>
                      </a:r>
                      <a:endParaRPr lang="fr-FR" sz="1600" b="1" kern="100" noProof="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0505" marR="0" indent="0" algn="l">
                        <a:lnSpc>
                          <a:spcPts val="1405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fr-FR" sz="1600" b="1" kern="0" noProof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Président</a:t>
                      </a:r>
                      <a:endParaRPr lang="fr-FR" sz="1600" b="1" kern="100" noProof="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8547168"/>
                  </a:ext>
                </a:extLst>
              </a:tr>
              <a:tr h="383458">
                <a:tc>
                  <a:txBody>
                    <a:bodyPr/>
                    <a:lstStyle/>
                    <a:p>
                      <a:pPr marL="127000" marR="0" indent="0" algn="l">
                        <a:spcBef>
                          <a:spcPts val="19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600" b="1" kern="0" noProof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</a:t>
                      </a:r>
                      <a:r>
                        <a:rPr lang="fr-FR" sz="1600" b="1" kern="0" spc="5" noProof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BREZINI SALAH EDDINE</a:t>
                      </a:r>
                      <a:endParaRPr lang="fr-FR" sz="1600" b="1" kern="100" noProof="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0505" marR="0" indent="0" algn="l">
                        <a:spcBef>
                          <a:spcPts val="15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600" b="1" kern="0" noProof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Encadrant</a:t>
                      </a:r>
                      <a:endParaRPr lang="fr-FR" sz="1600" b="1" kern="100" noProof="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84508087"/>
                  </a:ext>
                </a:extLst>
              </a:tr>
              <a:tr h="353962">
                <a:tc>
                  <a:txBody>
                    <a:bodyPr/>
                    <a:lstStyle/>
                    <a:p>
                      <a:pPr marL="127000" marR="0" indent="0" algn="l">
                        <a:lnSpc>
                          <a:spcPts val="1410"/>
                        </a:lnSpc>
                        <a:spcBef>
                          <a:spcPts val="205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600" b="1" kern="0" noProof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</a:t>
                      </a:r>
                      <a:r>
                        <a:rPr lang="fr-FR" sz="1600" b="1" kern="0" spc="-10" noProof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ZOUAGUI Tarik</a:t>
                      </a:r>
                      <a:endParaRPr lang="fr-FR" sz="1600" b="1" kern="100" noProof="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0505" marR="0" indent="0" algn="l">
                        <a:lnSpc>
                          <a:spcPts val="1455"/>
                        </a:lnSpc>
                        <a:spcBef>
                          <a:spcPts val="16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-FR" sz="1600" b="1" kern="0" noProof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Examinateur</a:t>
                      </a:r>
                      <a:endParaRPr lang="fr-FR" sz="1600" b="1" kern="100" noProof="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4099094"/>
                  </a:ext>
                </a:extLst>
              </a:tr>
              <a:tr h="338468">
                <a:tc>
                  <a:txBody>
                    <a:bodyPr/>
                    <a:lstStyle/>
                    <a:p>
                      <a:pPr marL="127000" marR="0" lvl="0" indent="0" algn="l" defTabSz="914400" rtl="0" eaLnBrk="1" fontAlgn="auto" latinLnBrk="0" hangingPunct="1">
                        <a:lnSpc>
                          <a:spcPts val="1410"/>
                        </a:lnSpc>
                        <a:spcBef>
                          <a:spcPts val="205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kern="0" noProof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Mme. DJERROUD SALIMA</a:t>
                      </a:r>
                      <a:endParaRPr lang="fr-FR" sz="1600" b="1" kern="100" noProof="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0505" marR="0" lvl="0" indent="0" algn="l" defTabSz="914400" rtl="0" eaLnBrk="1" fontAlgn="auto" latinLnBrk="0" hangingPunct="1">
                        <a:lnSpc>
                          <a:spcPts val="1455"/>
                        </a:lnSpc>
                        <a:spcBef>
                          <a:spcPts val="16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kern="0" noProof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Examinatrice</a:t>
                      </a:r>
                      <a:endParaRPr lang="fr-FR" sz="1600" b="1" kern="100" noProof="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70535368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CA4ABCBA-26B6-752E-1F19-146CB5ACDA2E}"/>
              </a:ext>
            </a:extLst>
          </p:cNvPr>
          <p:cNvSpPr txBox="1"/>
          <p:nvPr/>
        </p:nvSpPr>
        <p:spPr>
          <a:xfrm>
            <a:off x="2182759" y="2354122"/>
            <a:ext cx="78264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Conception et réalisation d’une plateforme de traitement d’images de télédétection en sciences de l’univers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E3E9D-8C0D-7E14-DD61-46AA316B79C9}"/>
              </a:ext>
            </a:extLst>
          </p:cNvPr>
          <p:cNvSpPr txBox="1"/>
          <p:nvPr/>
        </p:nvSpPr>
        <p:spPr>
          <a:xfrm>
            <a:off x="2182759" y="1848265"/>
            <a:ext cx="7826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Mémoire de projet de fin d’études pour l’obtention du diplôme de Master: </a:t>
            </a:r>
          </a:p>
        </p:txBody>
      </p:sp>
      <p:pic>
        <p:nvPicPr>
          <p:cNvPr id="4" name="Image 16" descr="LSI_Logo.png">
            <a:extLst>
              <a:ext uri="{FF2B5EF4-FFF2-40B4-BE49-F238E27FC236}">
                <a16:creationId xmlns:a16="http://schemas.microsoft.com/office/drawing/2014/main" id="{E4E88F1F-73E6-7564-1F91-A6F9BCBDA906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529" y="1767597"/>
            <a:ext cx="1051109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F525B8E-54E1-56C5-9290-13AF0664DF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62271" y="-22007"/>
            <a:ext cx="2239604" cy="223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069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C3FF-9653-508B-42D0-7A659C02BA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825E4-B5CA-C09E-DD1D-2DFE5B41A6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Motivations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19E0F-7541-E504-2636-A0F7569CE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85C89A6-6535-ED35-22C3-710A91118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8903" y="35029"/>
            <a:ext cx="2239604" cy="22396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D4B978D-BB2F-D702-3D5A-C8F922E9B1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987959" y="5056854"/>
            <a:ext cx="1801146" cy="18011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647B31-8DF1-DF92-92CB-1E744911E4D2}"/>
              </a:ext>
            </a:extLst>
          </p:cNvPr>
          <p:cNvSpPr txBox="1"/>
          <p:nvPr/>
        </p:nvSpPr>
        <p:spPr>
          <a:xfrm>
            <a:off x="3191305" y="-1177993"/>
            <a:ext cx="5809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sz="3200" b="1" u="sng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Problème</a:t>
            </a:r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2969418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43643-1A70-9D5C-9865-9C213D0A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3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FA0B1F2-DAD1-CA20-7B58-17A0B14BC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44" y="4920329"/>
            <a:ext cx="1801146" cy="180114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830A92C-2FED-656E-84B6-8EF884337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82200" y="-2479571"/>
            <a:ext cx="2239604" cy="223960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5B8EA1-B160-8224-B43D-AD04CA7B11E6}"/>
              </a:ext>
            </a:extLst>
          </p:cNvPr>
          <p:cNvSpPr/>
          <p:nvPr/>
        </p:nvSpPr>
        <p:spPr>
          <a:xfrm>
            <a:off x="0" y="2798635"/>
            <a:ext cx="3825240" cy="18011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Prolifération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Données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des données de télédétection.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: Nombreux capteurs satellitaires et aéroportés.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4D22A-BBB5-94EC-D4B5-5ECD0CDFB217}"/>
              </a:ext>
            </a:extLst>
          </p:cNvPr>
          <p:cNvSpPr txBox="1"/>
          <p:nvPr/>
        </p:nvSpPr>
        <p:spPr>
          <a:xfrm>
            <a:off x="3191305" y="457291"/>
            <a:ext cx="5809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sz="3200" b="1" u="sng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Problème</a:t>
            </a:r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6C6DAE-CCFD-EE35-75AE-9FAC831245A6}"/>
              </a:ext>
            </a:extLst>
          </p:cNvPr>
          <p:cNvSpPr/>
          <p:nvPr/>
        </p:nvSpPr>
        <p:spPr>
          <a:xfrm>
            <a:off x="4183380" y="2798635"/>
            <a:ext cx="3825240" cy="18011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Défis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liés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aux Données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Offrent des perspectives considérables.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diversité des formats.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complexité des traitements.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5BD0B4-FC45-6479-C9FE-4D4F52908A45}"/>
              </a:ext>
            </a:extLst>
          </p:cNvPr>
          <p:cNvSpPr/>
          <p:nvPr/>
        </p:nvSpPr>
        <p:spPr>
          <a:xfrm>
            <a:off x="8229600" y="2798635"/>
            <a:ext cx="3825240" cy="18011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des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Outils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Existants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Coûts élevés.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Personnalisation limitée.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Difficulté d'intégration d'algorithmes pour les scientifiques.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7BBDF8-EC82-FB2C-42D5-6E93F5DBE6E8}"/>
              </a:ext>
            </a:extLst>
          </p:cNvPr>
          <p:cNvCxnSpPr>
            <a:stCxn id="9" idx="2"/>
            <a:endCxn id="8" idx="0"/>
          </p:cNvCxnSpPr>
          <p:nvPr/>
        </p:nvCxnSpPr>
        <p:spPr>
          <a:xfrm flipH="1">
            <a:off x="1912620" y="1042066"/>
            <a:ext cx="4183380" cy="1756569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802684-DB1D-D64E-F181-125CC0535BFF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6096000" y="1042066"/>
            <a:ext cx="0" cy="1756569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51CA68D-A817-064F-C270-BD3ABD309B7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6096000" y="1042066"/>
            <a:ext cx="4046220" cy="1756569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C467733-EAF7-2B56-0AB8-109C00301B49}"/>
              </a:ext>
            </a:extLst>
          </p:cNvPr>
          <p:cNvSpPr txBox="1"/>
          <p:nvPr/>
        </p:nvSpPr>
        <p:spPr>
          <a:xfrm>
            <a:off x="3191305" y="-1006891"/>
            <a:ext cx="5809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  <a:r>
              <a:rPr lang="en-US" sz="3200" b="1" u="sng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Proposée</a:t>
            </a:r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ED86B7-F7E4-6ACB-8C52-3CD2C2D93C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808582" y="158781"/>
            <a:ext cx="1512570" cy="15125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6C061B-C82F-9E4A-1FE1-9AB1F46A04A6}"/>
              </a:ext>
            </a:extLst>
          </p:cNvPr>
          <p:cNvSpPr txBox="1"/>
          <p:nvPr/>
        </p:nvSpPr>
        <p:spPr>
          <a:xfrm>
            <a:off x="212651" y="180753"/>
            <a:ext cx="1933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Introduction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97038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F3AE-AAEC-04C4-8CCD-F5B044D74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F37AA-31D4-0ECC-D73A-9D8EC2DC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4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EC80A0-6B47-6CB0-6348-79D9EB5B4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11156" y="4920329"/>
            <a:ext cx="1801146" cy="18011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9A9EA3-201C-DCC3-0B30-7DBD880E0F1D}"/>
              </a:ext>
            </a:extLst>
          </p:cNvPr>
          <p:cNvSpPr txBox="1"/>
          <p:nvPr/>
        </p:nvSpPr>
        <p:spPr>
          <a:xfrm>
            <a:off x="3191305" y="457291"/>
            <a:ext cx="5809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  <a:r>
              <a:rPr lang="en-US" sz="3200" b="1" u="sng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Proposée</a:t>
            </a:r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83439D-1201-920B-1EA6-90F320CCC893}"/>
              </a:ext>
            </a:extLst>
          </p:cNvPr>
          <p:cNvSpPr/>
          <p:nvPr/>
        </p:nvSpPr>
        <p:spPr>
          <a:xfrm>
            <a:off x="3751252" y="2588342"/>
            <a:ext cx="4689496" cy="16813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Développement du Logiciel "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HyperView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Plateforme interactive.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Extensible.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73426FEC-40D3-58A2-9E73-D109AE7FC9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38760" y="214185"/>
            <a:ext cx="1655762" cy="165576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27C33A8-33DB-AF9D-0CBA-5535DEBD039B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6096000" y="1042066"/>
            <a:ext cx="0" cy="1546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D9A3E90-0975-7D6F-CB2A-6BE7FAECDA75}"/>
              </a:ext>
            </a:extLst>
          </p:cNvPr>
          <p:cNvSpPr txBox="1"/>
          <p:nvPr/>
        </p:nvSpPr>
        <p:spPr>
          <a:xfrm>
            <a:off x="3280205" y="-1002204"/>
            <a:ext cx="5809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sz="3200" b="1" u="sng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Problème</a:t>
            </a:r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79E1A7F-C020-1C07-6C12-BA5F8689DF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766" y="302634"/>
            <a:ext cx="1512570" cy="151257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269D0D-D6F2-B0F1-1E5D-503BC4C5F38C}"/>
              </a:ext>
            </a:extLst>
          </p:cNvPr>
          <p:cNvSpPr txBox="1"/>
          <p:nvPr/>
        </p:nvSpPr>
        <p:spPr>
          <a:xfrm>
            <a:off x="10258646" y="302634"/>
            <a:ext cx="1933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Introduction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50319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0E8DB-6462-07EA-FA30-B36F9867D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0B82B-C2B0-DC7F-662F-6A6A8D34C6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Architecture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Logicielle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75703-28E9-67AD-F1BF-0CD23675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42C73C3-1BCE-DB71-0CDD-386DA41AB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2200" y="294482"/>
            <a:ext cx="1655762" cy="16557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A97A2EF-B959-BE3C-23AA-7795C3ACC5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688590" y="574993"/>
            <a:ext cx="1741170" cy="1741170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65EA94F3-B542-D030-3A0A-040B967B33DD}"/>
              </a:ext>
            </a:extLst>
          </p:cNvPr>
          <p:cNvSpPr txBox="1">
            <a:spLocks/>
          </p:cNvSpPr>
          <p:nvPr/>
        </p:nvSpPr>
        <p:spPr>
          <a:xfrm>
            <a:off x="838200" y="-17399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Objectifs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Spécifiques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BA32245-9201-0068-8F37-9DD6BC4359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307715" y="5131117"/>
            <a:ext cx="1590358" cy="159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09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185108-8A01-2827-1617-B10910602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8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Objectifs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Spécifiques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62956-3613-6D0F-BF07-61E1418DA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6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9FF35D2-951A-996C-57FF-89DFD5EA9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2200" y="-15494158"/>
            <a:ext cx="1655762" cy="165576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A859C8-0C3C-D14F-0BCF-BFE499053F75}"/>
              </a:ext>
            </a:extLst>
          </p:cNvPr>
          <p:cNvSpPr/>
          <p:nvPr/>
        </p:nvSpPr>
        <p:spPr>
          <a:xfrm>
            <a:off x="251460" y="1276509"/>
            <a:ext cx="2853813" cy="975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Utilisateur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(UI)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2FA9EB8C-94C8-CBA6-5C25-66D390C855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47398" y="12265"/>
            <a:ext cx="2239604" cy="223960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937493-A9E2-DDA3-5BEB-39D31BFA1015}"/>
              </a:ext>
            </a:extLst>
          </p:cNvPr>
          <p:cNvSpPr/>
          <p:nvPr/>
        </p:nvSpPr>
        <p:spPr>
          <a:xfrm>
            <a:off x="7659822" y="2602072"/>
            <a:ext cx="2853813" cy="975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Prétraitement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449A77-96DD-F0B1-2BB5-7AC069EF0A00}"/>
              </a:ext>
            </a:extLst>
          </p:cNvPr>
          <p:cNvSpPr/>
          <p:nvPr/>
        </p:nvSpPr>
        <p:spPr>
          <a:xfrm>
            <a:off x="1678366" y="2602072"/>
            <a:ext cx="2853813" cy="975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E7A22D-8478-BDD9-F55D-EC0B6FCC4F19}"/>
              </a:ext>
            </a:extLst>
          </p:cNvPr>
          <p:cNvSpPr/>
          <p:nvPr/>
        </p:nvSpPr>
        <p:spPr>
          <a:xfrm>
            <a:off x="4669093" y="3901440"/>
            <a:ext cx="2853813" cy="975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Chargement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différents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types de données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32FDC53-4414-7477-915F-897835B6703B}"/>
              </a:ext>
            </a:extLst>
          </p:cNvPr>
          <p:cNvSpPr/>
          <p:nvPr/>
        </p:nvSpPr>
        <p:spPr>
          <a:xfrm>
            <a:off x="9086729" y="1276509"/>
            <a:ext cx="2853813" cy="975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et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Extensibilité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DE5D13-1BF5-1D61-12F9-8F027F6C12F4}"/>
              </a:ext>
            </a:extLst>
          </p:cNvPr>
          <p:cNvCxnSpPr>
            <a:stCxn id="5" idx="2"/>
            <a:endCxn id="10" idx="3"/>
          </p:cNvCxnSpPr>
          <p:nvPr/>
        </p:nvCxnSpPr>
        <p:spPr>
          <a:xfrm flipH="1">
            <a:off x="3105273" y="1126967"/>
            <a:ext cx="2990727" cy="637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8735C29-1988-B8C8-67A4-DA12F57B66B4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3105273" y="1126967"/>
            <a:ext cx="2990727" cy="1475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6641EB-5B7F-6762-182C-C47684B47B64}"/>
              </a:ext>
            </a:extLst>
          </p:cNvPr>
          <p:cNvCxnSpPr>
            <a:stCxn id="5" idx="2"/>
            <a:endCxn id="11" idx="0"/>
          </p:cNvCxnSpPr>
          <p:nvPr/>
        </p:nvCxnSpPr>
        <p:spPr>
          <a:xfrm>
            <a:off x="6096000" y="1126967"/>
            <a:ext cx="0" cy="2774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C0CA9A7-C7C5-1556-752D-D2CDA2EBDF8B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6096000" y="1126967"/>
            <a:ext cx="2990729" cy="1475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6DFD54E-A01C-9C68-D95C-EBF9E00EF08C}"/>
              </a:ext>
            </a:extLst>
          </p:cNvPr>
          <p:cNvCxnSpPr>
            <a:stCxn id="5" idx="2"/>
            <a:endCxn id="13" idx="1"/>
          </p:cNvCxnSpPr>
          <p:nvPr/>
        </p:nvCxnSpPr>
        <p:spPr>
          <a:xfrm>
            <a:off x="6096000" y="1126967"/>
            <a:ext cx="2990729" cy="637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5CF7C79-459D-6C6F-04FD-EE2D019B0501}"/>
              </a:ext>
            </a:extLst>
          </p:cNvPr>
          <p:cNvSpPr txBox="1"/>
          <p:nvPr/>
        </p:nvSpPr>
        <p:spPr>
          <a:xfrm>
            <a:off x="88172" y="12265"/>
            <a:ext cx="405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Objectifs et Architecture Logicielle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3ED0CC81-514B-84B4-66CF-F1AEE41FD0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172" y="5131117"/>
            <a:ext cx="1590358" cy="159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97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8" grpId="0" animBg="1"/>
      <p:bldP spid="11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1BE94-062F-9CC3-B06F-1305D5919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81F4FD-AB0F-7651-05D7-D646855C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8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Utilisateur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(UI)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65ED3-03A5-0E37-700A-AD9848B09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7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B719DC-0D67-DBFE-F21D-3345F8E332AA}"/>
              </a:ext>
            </a:extLst>
          </p:cNvPr>
          <p:cNvSpPr/>
          <p:nvPr/>
        </p:nvSpPr>
        <p:spPr>
          <a:xfrm>
            <a:off x="342900" y="2390899"/>
            <a:ext cx="3935557" cy="20668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Intuitive et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Centralisée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Conception ergonomique pour une prise en main facile.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Accès centralisé à toutes les fonctionnalités.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Système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d'onglets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30E178-EB2B-0831-298E-CFCFE5E74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802" y="1443504"/>
            <a:ext cx="5671595" cy="3582838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9C5751-7A13-8285-30FF-C95B59C5485D}"/>
              </a:ext>
            </a:extLst>
          </p:cNvPr>
          <p:cNvCxnSpPr>
            <a:cxnSpLocks/>
            <a:stCxn id="11" idx="3"/>
            <a:endCxn id="18" idx="1"/>
          </p:cNvCxnSpPr>
          <p:nvPr/>
        </p:nvCxnSpPr>
        <p:spPr>
          <a:xfrm flipV="1">
            <a:off x="4278457" y="3234923"/>
            <a:ext cx="1496345" cy="189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28DDCF91-1852-C28A-82A2-08CFB2E0A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118867">
            <a:off x="10483632" y="-95204"/>
            <a:ext cx="1327368" cy="132736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9F968FE-53A8-37A2-8935-29ECC3B27AA1}"/>
              </a:ext>
            </a:extLst>
          </p:cNvPr>
          <p:cNvSpPr txBox="1"/>
          <p:nvPr/>
        </p:nvSpPr>
        <p:spPr>
          <a:xfrm>
            <a:off x="88172" y="12265"/>
            <a:ext cx="405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Objectifs et Architecture Logicielle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FC295B8B-9E9E-2535-420F-4C11E7886F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752431">
            <a:off x="-2231086" y="288482"/>
            <a:ext cx="1655762" cy="165576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F7DA177-63F5-E252-1ABD-441082AD2B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4372" y="7386637"/>
            <a:ext cx="1590358" cy="159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99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798B-7CAD-E2A6-29D3-FFE740E92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68CC38-A555-7128-F546-354BFB68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8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Chargement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Données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FD1ED-EC51-F2A1-9FBD-5FE3068EE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ED3A02-ACA3-5DB3-4C7E-5275B8C18CA3}"/>
              </a:ext>
            </a:extLst>
          </p:cNvPr>
          <p:cNvSpPr/>
          <p:nvPr/>
        </p:nvSpPr>
        <p:spPr>
          <a:xfrm>
            <a:off x="1284144" y="2390899"/>
            <a:ext cx="3532854" cy="16880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Compatibilité Étendue des Formats d'Images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TIFF,  JPEG,  PNG,  ENVI,  HDF,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NetCDF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4BD646-25F0-D40B-993B-09F250BF41B0}"/>
              </a:ext>
            </a:extLst>
          </p:cNvPr>
          <p:cNvSpPr/>
          <p:nvPr/>
        </p:nvSpPr>
        <p:spPr>
          <a:xfrm>
            <a:off x="7375003" y="2390899"/>
            <a:ext cx="3532854" cy="16880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 des Fichiers de Métadonnées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Prise en charge spécifique des métadonnées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817DD4-EE65-F6E8-E13F-FE2B4E720DFC}"/>
              </a:ext>
            </a:extLst>
          </p:cNvPr>
          <p:cNvCxnSpPr>
            <a:stCxn id="5" idx="2"/>
          </p:cNvCxnSpPr>
          <p:nvPr/>
        </p:nvCxnSpPr>
        <p:spPr>
          <a:xfrm flipH="1">
            <a:off x="3162300" y="1126967"/>
            <a:ext cx="2933700" cy="1263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0365FA-C3A8-A438-EFE2-F9538FE2AF9D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6096000" y="1126967"/>
            <a:ext cx="3045430" cy="1263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89D8A448-668C-6895-982C-83021B5EB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752431">
            <a:off x="405351" y="-66673"/>
            <a:ext cx="1655762" cy="165576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1A8262C-F981-12E6-2B8C-7D142542B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06240" y="365002"/>
            <a:ext cx="1512570" cy="15125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B400B4-09EC-4B71-4CC1-8772FE82303E}"/>
              </a:ext>
            </a:extLst>
          </p:cNvPr>
          <p:cNvSpPr txBox="1"/>
          <p:nvPr/>
        </p:nvSpPr>
        <p:spPr>
          <a:xfrm>
            <a:off x="8372201" y="-4330"/>
            <a:ext cx="405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Objectifs et Architecture Logicielle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DB5FD31-A05E-5F6B-CAEE-FC052F803E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8118867">
            <a:off x="4153314" y="-15793180"/>
            <a:ext cx="1327368" cy="132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47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2731C-26A0-4842-19A2-8CFA03B6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FB17EE-3730-0B13-1A3E-975D72757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8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Interactive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32D63-C34C-9BE7-4D54-4716BA771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9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7941FA2-F02E-0B4D-0343-4FEECD6C8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304" y="-2177493"/>
            <a:ext cx="1655762" cy="16557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0B272F-B032-47C9-E614-7187F0072C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93520" y="169704"/>
            <a:ext cx="1512570" cy="151257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5EA7C0B9-E575-A6DC-BF85-C49D128E6B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016674" y="4541403"/>
            <a:ext cx="2239604" cy="223960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106EB5-1593-8410-A58E-8BE52E4D655F}"/>
              </a:ext>
            </a:extLst>
          </p:cNvPr>
          <p:cNvSpPr/>
          <p:nvPr/>
        </p:nvSpPr>
        <p:spPr>
          <a:xfrm>
            <a:off x="3988117" y="925989"/>
            <a:ext cx="4215765" cy="1634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Outils de Visualisation Performants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Affichage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images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zoom,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panoramique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spectraux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C2CD55-7A01-D362-E965-299DBADAD7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968" y="3233028"/>
            <a:ext cx="578064" cy="3003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D950C3-ECAB-4180-85DD-B5B3AD34D3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3397" y="3429000"/>
            <a:ext cx="4371108" cy="233973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67CFF2-8AF5-AE8E-D216-C4BBF40023D9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2324967" y="2560320"/>
            <a:ext cx="3771033" cy="868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14B44B-E944-0D5F-2159-E286BD5A387E}"/>
              </a:ext>
            </a:extLst>
          </p:cNvPr>
          <p:cNvCxnSpPr>
            <a:stCxn id="11" idx="2"/>
            <a:endCxn id="6" idx="0"/>
          </p:cNvCxnSpPr>
          <p:nvPr/>
        </p:nvCxnSpPr>
        <p:spPr>
          <a:xfrm>
            <a:off x="6096000" y="2560320"/>
            <a:ext cx="0" cy="67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80E3EB-0C91-67D9-AAF6-C6D94A4992C7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6096000" y="2560320"/>
            <a:ext cx="3542951" cy="868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A23CEA3-318F-97A0-B41B-8103C6067817}"/>
              </a:ext>
            </a:extLst>
          </p:cNvPr>
          <p:cNvSpPr txBox="1"/>
          <p:nvPr/>
        </p:nvSpPr>
        <p:spPr>
          <a:xfrm>
            <a:off x="88172" y="12265"/>
            <a:ext cx="405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Objectifs et Architecture Logicielle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18960C-A3EA-8D22-B194-4822F4B6C4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329" y="3429000"/>
            <a:ext cx="3083274" cy="252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76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D5228-A32F-F657-B3A8-F30DE5091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A9F867-49D8-3BF5-B2D0-695A3B9C6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8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Prétraitement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E9674-C42F-CA15-E938-3A674946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10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8231F8-E9D7-8D05-EAF7-D1CB45E41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4955" y="4883150"/>
            <a:ext cx="1655762" cy="16557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78E962F-1065-8591-8854-262F78226D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74432" y="464185"/>
            <a:ext cx="1512570" cy="151257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B4C2C0D0-622C-062B-EBF3-31D082F5A0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438" y="4299308"/>
            <a:ext cx="2239604" cy="223960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0BE619-A76B-22B4-9694-E28D903812F1}"/>
              </a:ext>
            </a:extLst>
          </p:cNvPr>
          <p:cNvSpPr/>
          <p:nvPr/>
        </p:nvSpPr>
        <p:spPr>
          <a:xfrm>
            <a:off x="3464718" y="2263458"/>
            <a:ext cx="5262563" cy="20008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Fonctionnalités Intégrées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Recadrage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Cropping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 Hyperspectral vers Multispectral (HS vers MS).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Sous-échantillonnage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Corrections Atmosphériques Fondamentales.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660BA6-3C1D-B453-3450-C16DDEC4606A}"/>
              </a:ext>
            </a:extLst>
          </p:cNvPr>
          <p:cNvCxnSpPr>
            <a:cxnSpLocks/>
            <a:stCxn id="11" idx="2"/>
          </p:cNvCxnSpPr>
          <p:nvPr/>
        </p:nvCxnSpPr>
        <p:spPr>
          <a:xfrm flipH="1" flipV="1">
            <a:off x="5572602" y="4231567"/>
            <a:ext cx="523398" cy="32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E7AC2F-DFBF-11F9-2849-FAD70DE5B9F1}"/>
              </a:ext>
            </a:extLst>
          </p:cNvPr>
          <p:cNvCxnSpPr>
            <a:stCxn id="5" idx="2"/>
            <a:endCxn id="11" idx="0"/>
          </p:cNvCxnSpPr>
          <p:nvPr/>
        </p:nvCxnSpPr>
        <p:spPr>
          <a:xfrm>
            <a:off x="6096000" y="1126967"/>
            <a:ext cx="0" cy="11364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A35508B-A8EC-38FF-07F8-10EA13AC8718}"/>
              </a:ext>
            </a:extLst>
          </p:cNvPr>
          <p:cNvSpPr txBox="1"/>
          <p:nvPr/>
        </p:nvSpPr>
        <p:spPr>
          <a:xfrm>
            <a:off x="88172" y="12265"/>
            <a:ext cx="405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Objectifs et Architecture Logicielle</a:t>
            </a:r>
          </a:p>
        </p:txBody>
      </p:sp>
    </p:spTree>
    <p:extLst>
      <p:ext uri="{BB962C8B-B14F-4D97-AF65-F5344CB8AC3E}">
        <p14:creationId xmlns:p14="http://schemas.microsoft.com/office/powerpoint/2010/main" val="4243033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03DC-B6C5-ED98-60B7-CF91A7D68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8F78A3-3DE8-CE07-8D42-7D1A075C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8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et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Extensibilité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AFE71-7475-BD81-DBD2-806EE4F3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11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319A2C1-15F8-CE4D-6850-D8FBDDAA1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4280" y="4700588"/>
            <a:ext cx="1655762" cy="165576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BAEE212B-29B0-CF67-3947-1CB83308A2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47398" y="12265"/>
            <a:ext cx="2239604" cy="223960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18FABD-7845-C582-9E99-C15BF7CCA381}"/>
              </a:ext>
            </a:extLst>
          </p:cNvPr>
          <p:cNvSpPr/>
          <p:nvPr/>
        </p:nvSpPr>
        <p:spPr>
          <a:xfrm>
            <a:off x="838200" y="2741258"/>
            <a:ext cx="5262563" cy="16557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Conception Modulaire :</a:t>
            </a:r>
          </a:p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Permettre l'ajout facile de nouvelles fonctionnalités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E85019-99F4-9123-9CA2-8818DD11C268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3469482" y="1126967"/>
            <a:ext cx="2626518" cy="1614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49850F-44E3-7FCA-5F52-8B65E3953AF3}"/>
              </a:ext>
            </a:extLst>
          </p:cNvPr>
          <p:cNvSpPr/>
          <p:nvPr/>
        </p:nvSpPr>
        <p:spPr>
          <a:xfrm>
            <a:off x="6375399" y="2741258"/>
            <a:ext cx="5262563" cy="16557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Extensibilité :</a:t>
            </a:r>
          </a:p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Faciliter l'intégration future d'algorithmes spécialisés (ex: classification, détection d'objets, etc.).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C22529-1D2B-821A-81E5-6FC97E0D30B5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096000" y="1126967"/>
            <a:ext cx="2910681" cy="1614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716702F9-8C47-6B1B-6381-B76990E4A8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038180" y="5026342"/>
            <a:ext cx="1512570" cy="15125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94AFA7-B812-7665-9964-A3890987BDDF}"/>
              </a:ext>
            </a:extLst>
          </p:cNvPr>
          <p:cNvSpPr txBox="1"/>
          <p:nvPr/>
        </p:nvSpPr>
        <p:spPr>
          <a:xfrm>
            <a:off x="88172" y="12265"/>
            <a:ext cx="405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Objectifs et Architecture Logicielle</a:t>
            </a:r>
          </a:p>
        </p:txBody>
      </p:sp>
    </p:spTree>
    <p:extLst>
      <p:ext uri="{BB962C8B-B14F-4D97-AF65-F5344CB8AC3E}">
        <p14:creationId xmlns:p14="http://schemas.microsoft.com/office/powerpoint/2010/main" val="2556022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44631-D689-9701-B857-FA5D5FC8A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0E2C8D-A9D9-DF63-599D-64D6784CD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8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Générale 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74451-3837-710C-FFA1-698F813F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12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BFAA329-4E42-DD37-3D9E-315361EA6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47398" y="4700588"/>
            <a:ext cx="1655762" cy="165576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3E3B4B55-4528-68E0-A234-3A67228BD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47398" y="12265"/>
            <a:ext cx="2239604" cy="223960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375F25-7ED5-4A35-85E4-B0EA15167C54}"/>
              </a:ext>
            </a:extLst>
          </p:cNvPr>
          <p:cNvSpPr/>
          <p:nvPr/>
        </p:nvSpPr>
        <p:spPr>
          <a:xfrm>
            <a:off x="3464718" y="1716087"/>
            <a:ext cx="5262563" cy="7096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Couche de Présentation (GUI - PyQt5).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8D7915-29B2-5860-B22A-AAFD705C32E4}"/>
              </a:ext>
            </a:extLst>
          </p:cNvPr>
          <p:cNvSpPr/>
          <p:nvPr/>
        </p:nvSpPr>
        <p:spPr>
          <a:xfrm>
            <a:off x="3464718" y="2874804"/>
            <a:ext cx="5262563" cy="884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Couche de Logique Applicative et de Traitement (modules Python pour opérations et algorithmes).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534914-6EE8-6705-158F-06CB5081DE14}"/>
              </a:ext>
            </a:extLst>
          </p:cNvPr>
          <p:cNvSpPr/>
          <p:nvPr/>
        </p:nvSpPr>
        <p:spPr>
          <a:xfrm>
            <a:off x="3464718" y="4313553"/>
            <a:ext cx="5262563" cy="1096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Couche d'Accès et de Gestion des Données (chargement, sauvegarde, représentation interne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métadonnées).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271938-3939-99ED-8CCF-A28010E86EF3}"/>
              </a:ext>
            </a:extLst>
          </p:cNvPr>
          <p:cNvCxnSpPr>
            <a:stCxn id="12" idx="0"/>
            <a:endCxn id="10" idx="2"/>
          </p:cNvCxnSpPr>
          <p:nvPr/>
        </p:nvCxnSpPr>
        <p:spPr>
          <a:xfrm flipV="1">
            <a:off x="6096000" y="3758884"/>
            <a:ext cx="0" cy="554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031F1B-EF81-5ADE-8B46-48A1FF066843}"/>
              </a:ext>
            </a:extLst>
          </p:cNvPr>
          <p:cNvCxnSpPr>
            <a:stCxn id="10" idx="0"/>
            <a:endCxn id="6" idx="2"/>
          </p:cNvCxnSpPr>
          <p:nvPr/>
        </p:nvCxnSpPr>
        <p:spPr>
          <a:xfrm flipV="1">
            <a:off x="6096000" y="2425700"/>
            <a:ext cx="0" cy="449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7EA2E249-A227-25D2-F93B-D468AAEC28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720" y="5026342"/>
            <a:ext cx="1512570" cy="15125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074AA77-DB82-7690-24F9-7290A61A1834}"/>
              </a:ext>
            </a:extLst>
          </p:cNvPr>
          <p:cNvSpPr txBox="1"/>
          <p:nvPr/>
        </p:nvSpPr>
        <p:spPr>
          <a:xfrm>
            <a:off x="88172" y="12265"/>
            <a:ext cx="405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Objectifs et Architecture Logicielle</a:t>
            </a:r>
          </a:p>
        </p:txBody>
      </p:sp>
    </p:spTree>
    <p:extLst>
      <p:ext uri="{BB962C8B-B14F-4D97-AF65-F5344CB8AC3E}">
        <p14:creationId xmlns:p14="http://schemas.microsoft.com/office/powerpoint/2010/main" val="967403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AE7D2-F0D3-DFBA-8B9D-42F5031A5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7B269-7106-AC9D-8098-E6E156B2C6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9DE97-7F4F-1423-567F-1B5579153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Estimation de la Température de Surface Terrestre (LST)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D6C4D-A7D2-8EC5-0567-825BE5C4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3633F33-0072-AF56-BC23-7558B88C7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92180" y="5026342"/>
            <a:ext cx="1512570" cy="151257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B42A176-0C44-3218-A7A4-8256F22D53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8198" y="263884"/>
            <a:ext cx="2239604" cy="223960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770A9B0-6EA7-21C2-0C64-F475914F02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292180" y="0"/>
            <a:ext cx="1655762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476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3F890-1EC5-4B04-4DAD-CB6211CCE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14A1C2-3E59-2C66-911E-B24041C94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8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de la LST 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B3884-3472-333F-C216-4353B4A7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14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D0E76F5-F310-9924-0E7D-C9CCDDD6D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263" y="333792"/>
            <a:ext cx="1655762" cy="165576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C7353370-4DD1-FE7C-14F0-480C272AE3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80398" y="-2484713"/>
            <a:ext cx="2239604" cy="223960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1D24B7-BCA5-5960-B8D2-591EAE2E628C}"/>
              </a:ext>
            </a:extLst>
          </p:cNvPr>
          <p:cNvSpPr/>
          <p:nvPr/>
        </p:nvSpPr>
        <p:spPr>
          <a:xfrm>
            <a:off x="838200" y="2587107"/>
            <a:ext cx="4559300" cy="1262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Indicateur Direct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Mesure directe de la chaleur rayonnée.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F4A082E7-354A-9374-234D-88C97D3047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8940" y="7230267"/>
            <a:ext cx="1512570" cy="151257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A24633-A03D-7D8F-E510-E4E9888E760B}"/>
              </a:ext>
            </a:extLst>
          </p:cNvPr>
          <p:cNvSpPr/>
          <p:nvPr/>
        </p:nvSpPr>
        <p:spPr>
          <a:xfrm>
            <a:off x="7287478" y="2587107"/>
            <a:ext cx="4668441" cy="1262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Essentiel pour la Compréhension de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Îlots de chaleur urbains (ICU).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 Changements climatiques.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FF46F5-DE19-A807-DB8C-A27D9CFD89C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3117850" y="1126967"/>
            <a:ext cx="2978150" cy="1460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2A18B7-83A2-B09E-D8CC-6FFF73E02A19}"/>
              </a:ext>
            </a:extLst>
          </p:cNvPr>
          <p:cNvCxnSpPr>
            <a:cxnSpLocks/>
            <a:stCxn id="5" idx="2"/>
            <a:endCxn id="3" idx="0"/>
          </p:cNvCxnSpPr>
          <p:nvPr/>
        </p:nvCxnSpPr>
        <p:spPr>
          <a:xfrm>
            <a:off x="6096000" y="1126967"/>
            <a:ext cx="3525699" cy="1460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03D8C36-2370-B0C7-D4F2-6F6A5E4C7A5D}"/>
              </a:ext>
            </a:extLst>
          </p:cNvPr>
          <p:cNvSpPr txBox="1"/>
          <p:nvPr/>
        </p:nvSpPr>
        <p:spPr>
          <a:xfrm>
            <a:off x="88172" y="12265"/>
            <a:ext cx="405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LST</a:t>
            </a:r>
          </a:p>
        </p:txBody>
      </p:sp>
    </p:spTree>
    <p:extLst>
      <p:ext uri="{BB962C8B-B14F-4D97-AF65-F5344CB8AC3E}">
        <p14:creationId xmlns:p14="http://schemas.microsoft.com/office/powerpoint/2010/main" val="1877298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A0C3E-4AF5-76FB-1378-5F43EEA9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3B11A9E-2DCB-F6AB-6F6F-84C963ABA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16" y="-1934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Méthodologie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BFADE-940D-EDFC-8963-F42FE274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15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B8D617C-A357-2E55-1C01-8489BB194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47398" y="4700588"/>
            <a:ext cx="1655762" cy="165576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0AE87D29-57F1-4B33-B6F7-A4C01440B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47398" y="12265"/>
            <a:ext cx="2239604" cy="223960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BC2C50-2C5E-2E6C-2217-B5D24C51F380}"/>
              </a:ext>
            </a:extLst>
          </p:cNvPr>
          <p:cNvSpPr/>
          <p:nvPr/>
        </p:nvSpPr>
        <p:spPr>
          <a:xfrm>
            <a:off x="3250108" y="906326"/>
            <a:ext cx="5691783" cy="9660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Radiométrique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niveaux numériques (DN) en radiance (L TOA) et en température d'éclairement (BT).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40DFFA8-C226-5056-CE24-72C30694AE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071" y="5017769"/>
            <a:ext cx="1512570" cy="151257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4F9E84-3026-2601-9D34-16230A379599}"/>
              </a:ext>
            </a:extLst>
          </p:cNvPr>
          <p:cNvSpPr/>
          <p:nvPr/>
        </p:nvSpPr>
        <p:spPr>
          <a:xfrm>
            <a:off x="3198761" y="2176121"/>
            <a:ext cx="5794475" cy="9660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Correction Atmosphérique: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Corriger les effets d'émissivité et d'atténuation atmosphérique.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5B8C19-9A6B-732B-25E1-87EE893D66C0}"/>
              </a:ext>
            </a:extLst>
          </p:cNvPr>
          <p:cNvSpPr/>
          <p:nvPr/>
        </p:nvSpPr>
        <p:spPr>
          <a:xfrm>
            <a:off x="3195679" y="3474594"/>
            <a:ext cx="5794475" cy="9660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SWCVR: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Estimer localement la vapeur d'eau de colonne (CWV)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4C0A69-3CC3-40EA-F518-3EC4204DF450}"/>
              </a:ext>
            </a:extLst>
          </p:cNvPr>
          <p:cNvSpPr/>
          <p:nvPr/>
        </p:nvSpPr>
        <p:spPr>
          <a:xfrm>
            <a:off x="3195679" y="4816609"/>
            <a:ext cx="5794475" cy="9660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 de l'Émissivité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NDVI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Normalized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Vegetation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Index).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DOS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Subtraction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8A7FBC-BEB9-90F3-4503-D824E2B54A78}"/>
              </a:ext>
            </a:extLst>
          </p:cNvPr>
          <p:cNvCxnSpPr>
            <a:stCxn id="12" idx="2"/>
            <a:endCxn id="7" idx="0"/>
          </p:cNvCxnSpPr>
          <p:nvPr/>
        </p:nvCxnSpPr>
        <p:spPr>
          <a:xfrm flipH="1">
            <a:off x="6095999" y="1872344"/>
            <a:ext cx="1" cy="303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DE4948-2069-35E4-0FBC-491D7145FA51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6092917" y="3142139"/>
            <a:ext cx="3082" cy="332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0F4751-D8BB-7027-BA11-3D431D1E9A67}"/>
              </a:ext>
            </a:extLst>
          </p:cNvPr>
          <p:cNvCxnSpPr>
            <a:stCxn id="9" idx="2"/>
            <a:endCxn id="13" idx="0"/>
          </p:cNvCxnSpPr>
          <p:nvPr/>
        </p:nvCxnSpPr>
        <p:spPr>
          <a:xfrm>
            <a:off x="6092917" y="4440612"/>
            <a:ext cx="0" cy="375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0A401A8-E5D1-2D6C-0DCC-7A21F8453184}"/>
              </a:ext>
            </a:extLst>
          </p:cNvPr>
          <p:cNvSpPr txBox="1"/>
          <p:nvPr/>
        </p:nvSpPr>
        <p:spPr>
          <a:xfrm>
            <a:off x="88172" y="12265"/>
            <a:ext cx="405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LST</a:t>
            </a:r>
          </a:p>
        </p:txBody>
      </p:sp>
    </p:spTree>
    <p:extLst>
      <p:ext uri="{BB962C8B-B14F-4D97-AF65-F5344CB8AC3E}">
        <p14:creationId xmlns:p14="http://schemas.microsoft.com/office/powerpoint/2010/main" val="3196839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E7DDE-A5B3-B242-9D92-3C671D66E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0E2C6A-47CA-6BA8-1D76-A4B4E7793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16" y="-1934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de LST sur la carte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d’Oran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E5663-B390-D8C1-66CF-BEDE0FCD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16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4533084-EC71-8128-B5C7-AB55CEC4A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39319" y="5065713"/>
            <a:ext cx="1655762" cy="165576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59AD03FC-6618-66A0-565F-7567B243A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47398" y="12265"/>
            <a:ext cx="2239604" cy="223960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011D9C5-AC52-B28D-282B-3F46715B11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431" y="7319009"/>
            <a:ext cx="1512570" cy="151257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5C5BA74-683A-0318-BEE0-CB29E611320A}"/>
              </a:ext>
            </a:extLst>
          </p:cNvPr>
          <p:cNvSpPr txBox="1"/>
          <p:nvPr/>
        </p:nvSpPr>
        <p:spPr>
          <a:xfrm>
            <a:off x="88172" y="12265"/>
            <a:ext cx="405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456A49-9678-44FD-312A-B98E5283CE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35" y="792683"/>
            <a:ext cx="11907203" cy="527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83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52274-2E39-33EE-6BCC-90FD617F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A375D-D2D5-8574-F6FD-8DA26CBDD3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d'Images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F9211-473A-C551-BF90-7D5A6B5496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 d'Images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Hyperspectrales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Multispectrales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C66BC-6F8E-C1E3-813F-29151E9E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E8FCBF-356C-A286-750E-A90E6DD70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2396" y="196595"/>
            <a:ext cx="2239604" cy="223960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1808A5D-F0C9-F20F-9122-DE484D363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31377" y="5202238"/>
            <a:ext cx="1655762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41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D91CF-AA5C-56FC-4ED2-06E0A468F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18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2EA24B-C902-DDBB-3B60-FDFC9BBFEABD}"/>
              </a:ext>
            </a:extLst>
          </p:cNvPr>
          <p:cNvSpPr txBox="1"/>
          <p:nvPr/>
        </p:nvSpPr>
        <p:spPr>
          <a:xfrm>
            <a:off x="212651" y="180753"/>
            <a:ext cx="1933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Fusion d’images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660AE4-342B-70BE-7006-91AF4ED11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29" y="752104"/>
            <a:ext cx="10869542" cy="38200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F416B98-4116-5E1F-C2CB-A4AF11E944D3}"/>
              </a:ext>
            </a:extLst>
          </p:cNvPr>
          <p:cNvSpPr txBox="1"/>
          <p:nvPr/>
        </p:nvSpPr>
        <p:spPr>
          <a:xfrm>
            <a:off x="3166729" y="4880345"/>
            <a:ext cx="6147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Image </a:t>
            </a:r>
            <a:r>
              <a:rPr lang="fr-FR" b="1" dirty="0" err="1"/>
              <a:t>Hyperspectrale</a:t>
            </a:r>
            <a:r>
              <a:rPr lang="fr-FR" b="1" dirty="0"/>
              <a:t> : </a:t>
            </a:r>
            <a:r>
              <a:rPr lang="fr-FR" dirty="0"/>
              <a:t>une résolution spectrale haute.</a:t>
            </a:r>
          </a:p>
          <a:p>
            <a:r>
              <a:rPr lang="fr-FR" b="1" dirty="0"/>
              <a:t>Image Multispectrale : </a:t>
            </a:r>
            <a:r>
              <a:rPr lang="fr-FR" dirty="0"/>
              <a:t>une résolution spatiale haute.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7B47725-6A7C-BE66-D25E-267528C7A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2396" y="-2379594"/>
            <a:ext cx="2239604" cy="223960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E991663-5E60-D5EE-C131-0FB91ACCBD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2651" y="5021485"/>
            <a:ext cx="1655762" cy="165576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570E9-704F-4D21-FC41-824214DEFD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62591" y="5203510"/>
            <a:ext cx="1512570" cy="151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6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B071F-9EE4-ABBC-C173-BEF883B07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1A3309-A1FD-F484-4F09-F2C693BE3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1"/>
            <a:ext cx="10515600" cy="5624512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 :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Créer une nouvelle image avec une résolution spatiale et spectrale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trés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élever</a:t>
            </a:r>
          </a:p>
          <a:p>
            <a:pPr algn="just"/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Méthodes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CNMF (Coupled Nonnegative Matrix Factorization)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HSB-SV (Hyperspectral Super-resolution with spectra bundles)</a:t>
            </a:r>
          </a:p>
          <a:p>
            <a:pPr marL="0" indent="0" algn="just"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0C816-3341-FF2D-2DA9-4FAF6151E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19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A7D2F3-464A-B1C0-4606-8B60B99D5AF2}"/>
              </a:ext>
            </a:extLst>
          </p:cNvPr>
          <p:cNvSpPr txBox="1"/>
          <p:nvPr/>
        </p:nvSpPr>
        <p:spPr>
          <a:xfrm>
            <a:off x="180752" y="208849"/>
            <a:ext cx="204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Fusion d’images</a:t>
            </a:r>
            <a:endParaRPr lang="en-US" b="1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77E23FC-02AB-79D7-3DAA-9E623F701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9" y="7368445"/>
            <a:ext cx="1655762" cy="165576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0316514-F607-F149-6A37-6C7BE29BC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9351" y="4361339"/>
            <a:ext cx="1512570" cy="151257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E8C7C3D-4407-BBB6-4BDC-E910730AE4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169244" y="3997822"/>
            <a:ext cx="2239604" cy="223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13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7B16D6-030D-C11E-7C51-39C3BAB5F523}"/>
              </a:ext>
            </a:extLst>
          </p:cNvPr>
          <p:cNvSpPr txBox="1"/>
          <p:nvPr/>
        </p:nvSpPr>
        <p:spPr>
          <a:xfrm>
            <a:off x="180752" y="208849"/>
            <a:ext cx="204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Fusion d’images</a:t>
            </a:r>
            <a:endParaRPr lang="en-US" b="1" dirty="0"/>
          </a:p>
        </p:txBody>
      </p:sp>
      <p:pic>
        <p:nvPicPr>
          <p:cNvPr id="12" name="Espace réservé du contenu 6" descr="C:\Users\Salah Brézini\Desktop\Thèse\Partie 2\Chapitre 3\Paper\final\Figures\Syn\REF\REF.png">
            <a:extLst>
              <a:ext uri="{FF2B5EF4-FFF2-40B4-BE49-F238E27FC236}">
                <a16:creationId xmlns:a16="http://schemas.microsoft.com/office/drawing/2014/main" id="{19D7A8AA-B3B9-1943-698F-403220A45FB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142" y="2322691"/>
            <a:ext cx="3226806" cy="2842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 13" descr="C:\Users\Salah Brézini\Desktop\Fusion_code\Syn_data\Facteur 2\MSI1.png">
            <a:extLst>
              <a:ext uri="{FF2B5EF4-FFF2-40B4-BE49-F238E27FC236}">
                <a16:creationId xmlns:a16="http://schemas.microsoft.com/office/drawing/2014/main" id="{009DF905-A957-9F3A-96E0-E2867FE34F3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458" y="1145917"/>
            <a:ext cx="2821257" cy="2283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14" descr="C:\Users\Salah Brézini\Desktop\Fusion_code\Syn_data\Facteur 4\low.png">
            <a:extLst>
              <a:ext uri="{FF2B5EF4-FFF2-40B4-BE49-F238E27FC236}">
                <a16:creationId xmlns:a16="http://schemas.microsoft.com/office/drawing/2014/main" id="{5BA46CA6-6AFF-009D-21A1-5C26170EF541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101" y="4035533"/>
            <a:ext cx="2822400" cy="236632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lèche vers le bas 15">
            <a:extLst>
              <a:ext uri="{FF2B5EF4-FFF2-40B4-BE49-F238E27FC236}">
                <a16:creationId xmlns:a16="http://schemas.microsoft.com/office/drawing/2014/main" id="{DD1650D8-0548-67C8-FD52-75612A5429C1}"/>
              </a:ext>
            </a:extLst>
          </p:cNvPr>
          <p:cNvSpPr/>
          <p:nvPr/>
        </p:nvSpPr>
        <p:spPr>
          <a:xfrm rot="15353171">
            <a:off x="5798363" y="2251009"/>
            <a:ext cx="533161" cy="17307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 vers le bas 16">
            <a:extLst>
              <a:ext uri="{FF2B5EF4-FFF2-40B4-BE49-F238E27FC236}">
                <a16:creationId xmlns:a16="http://schemas.microsoft.com/office/drawing/2014/main" id="{3C29D0B3-B10F-778B-7A35-1A9F02EC92B6}"/>
              </a:ext>
            </a:extLst>
          </p:cNvPr>
          <p:cNvSpPr/>
          <p:nvPr/>
        </p:nvSpPr>
        <p:spPr>
          <a:xfrm rot="17744709">
            <a:off x="5690001" y="3170178"/>
            <a:ext cx="533161" cy="17307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7">
            <a:extLst>
              <a:ext uri="{FF2B5EF4-FFF2-40B4-BE49-F238E27FC236}">
                <a16:creationId xmlns:a16="http://schemas.microsoft.com/office/drawing/2014/main" id="{F616BC4E-42D0-FBEC-6A11-F5E057D5A99E}"/>
              </a:ext>
            </a:extLst>
          </p:cNvPr>
          <p:cNvSpPr txBox="1"/>
          <p:nvPr/>
        </p:nvSpPr>
        <p:spPr>
          <a:xfrm>
            <a:off x="927899" y="1826596"/>
            <a:ext cx="3920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hyperspectrale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référence</a:t>
            </a:r>
          </a:p>
        </p:txBody>
      </p:sp>
      <p:sp>
        <p:nvSpPr>
          <p:cNvPr id="18" name="ZoneTexte 18">
            <a:extLst>
              <a:ext uri="{FF2B5EF4-FFF2-40B4-BE49-F238E27FC236}">
                <a16:creationId xmlns:a16="http://schemas.microsoft.com/office/drawing/2014/main" id="{9C9F2A6E-9EF3-258D-597F-E4839A1E606E}"/>
              </a:ext>
            </a:extLst>
          </p:cNvPr>
          <p:cNvSpPr txBox="1"/>
          <p:nvPr/>
        </p:nvSpPr>
        <p:spPr>
          <a:xfrm>
            <a:off x="7644588" y="3543820"/>
            <a:ext cx="264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hyperspectrale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9">
            <a:extLst>
              <a:ext uri="{FF2B5EF4-FFF2-40B4-BE49-F238E27FC236}">
                <a16:creationId xmlns:a16="http://schemas.microsoft.com/office/drawing/2014/main" id="{CA1D7D6C-7E09-FCB1-F049-9B1389C061D6}"/>
              </a:ext>
            </a:extLst>
          </p:cNvPr>
          <p:cNvSpPr txBox="1"/>
          <p:nvPr/>
        </p:nvSpPr>
        <p:spPr>
          <a:xfrm>
            <a:off x="1245523" y="873813"/>
            <a:ext cx="312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Protocole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de Wald </a:t>
            </a:r>
            <a:endParaRPr lang="fr-F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ZoneTexte 36">
            <a:extLst>
              <a:ext uri="{FF2B5EF4-FFF2-40B4-BE49-F238E27FC236}">
                <a16:creationId xmlns:a16="http://schemas.microsoft.com/office/drawing/2014/main" id="{3EAFD53E-FC81-35B6-DDA1-7770DD0D2813}"/>
              </a:ext>
            </a:extLst>
          </p:cNvPr>
          <p:cNvSpPr txBox="1"/>
          <p:nvPr/>
        </p:nvSpPr>
        <p:spPr>
          <a:xfrm rot="20716926">
            <a:off x="5514021" y="2413406"/>
            <a:ext cx="8053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B0F29A-F9E3-35DA-043F-762BA75FCBD6}"/>
              </a:ext>
            </a:extLst>
          </p:cNvPr>
          <p:cNvSpPr/>
          <p:nvPr/>
        </p:nvSpPr>
        <p:spPr>
          <a:xfrm rot="1507578">
            <a:off x="5245058" y="4184869"/>
            <a:ext cx="95521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PSF</a:t>
            </a:r>
          </a:p>
        </p:txBody>
      </p:sp>
      <p:sp>
        <p:nvSpPr>
          <p:cNvPr id="22" name="ZoneTexte 20">
            <a:extLst>
              <a:ext uri="{FF2B5EF4-FFF2-40B4-BE49-F238E27FC236}">
                <a16:creationId xmlns:a16="http://schemas.microsoft.com/office/drawing/2014/main" id="{C1B297C9-2FDB-A388-27C6-8759D152C587}"/>
              </a:ext>
            </a:extLst>
          </p:cNvPr>
          <p:cNvSpPr txBox="1"/>
          <p:nvPr/>
        </p:nvSpPr>
        <p:spPr>
          <a:xfrm>
            <a:off x="7633853" y="706478"/>
            <a:ext cx="2642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multispectrale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C9D7A18-727E-CE18-FCE0-CBCE43D5FD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5617" y="5426951"/>
            <a:ext cx="1431049" cy="143104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1A66A21-C4C8-4C3A-5A3B-A355BCF068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673785" y="137237"/>
            <a:ext cx="1368095" cy="136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70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0F4F3-5491-40D0-5979-599C302FC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822D06-3C67-BB3D-E460-9BA5DEAF0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203" y="365125"/>
            <a:ext cx="729393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Résultats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Fusion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87F37-9674-88FF-6E4E-8D4D39100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21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D76376-BE03-8A9F-CD5D-EE1E2F9463A7}"/>
              </a:ext>
            </a:extLst>
          </p:cNvPr>
          <p:cNvSpPr txBox="1"/>
          <p:nvPr/>
        </p:nvSpPr>
        <p:spPr>
          <a:xfrm>
            <a:off x="180752" y="208849"/>
            <a:ext cx="204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Fusion d’images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A4CAB5-B5A4-D264-2B6F-B3D8E5575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904" y="2959392"/>
            <a:ext cx="2714109" cy="2071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165771-806E-5F5F-49CD-C964B3934D8A}"/>
              </a:ext>
            </a:extLst>
          </p:cNvPr>
          <p:cNvSpPr txBox="1"/>
          <p:nvPr/>
        </p:nvSpPr>
        <p:spPr>
          <a:xfrm>
            <a:off x="1064654" y="5212112"/>
            <a:ext cx="313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Image fusionnée par la CNMF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34CBD8-DD91-1A40-B0E5-141835FC5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199" y="2819921"/>
            <a:ext cx="2882347" cy="22107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360873-929B-26CF-F5DE-6D5CC478490E}"/>
              </a:ext>
            </a:extLst>
          </p:cNvPr>
          <p:cNvSpPr txBox="1"/>
          <p:nvPr/>
        </p:nvSpPr>
        <p:spPr>
          <a:xfrm>
            <a:off x="7569900" y="5222744"/>
            <a:ext cx="3557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Image fusionnée par la HSB-SV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9191359-A020-3E1C-45D8-9C0C87F4EB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1830" y="226012"/>
            <a:ext cx="1655762" cy="16557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F1D2527-0AA8-8C45-2F11-07525178D1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132235" y="5164697"/>
            <a:ext cx="1512570" cy="151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34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9B6AE-6AC8-2D05-71D9-45677356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F5CE82-2527-38AE-710F-9719E752D394}"/>
              </a:ext>
            </a:extLst>
          </p:cNvPr>
          <p:cNvSpPr txBox="1"/>
          <p:nvPr/>
        </p:nvSpPr>
        <p:spPr>
          <a:xfrm>
            <a:off x="180752" y="208849"/>
            <a:ext cx="204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Fusion d’images</a:t>
            </a:r>
            <a:endParaRPr lang="en-US" b="1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E7C20C54-F090-3FEA-ADF6-6F81708492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5813721"/>
              </p:ext>
            </p:extLst>
          </p:nvPr>
        </p:nvGraphicFramePr>
        <p:xfrm>
          <a:off x="838198" y="1678356"/>
          <a:ext cx="10515597" cy="3501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2011294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95832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73063041"/>
                    </a:ext>
                  </a:extLst>
                </a:gridCol>
              </a:tblGrid>
              <a:tr h="583548">
                <a:tc>
                  <a:txBody>
                    <a:bodyPr/>
                    <a:lstStyle/>
                    <a:p>
                      <a:r>
                        <a:rPr lang="fr-FR" dirty="0"/>
                        <a:t>Métrique 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CNMF 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HSB-SV 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501133"/>
                  </a:ext>
                </a:extLst>
              </a:tr>
              <a:tr h="583548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PSNR (dB) (∞ ):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46.038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42.072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732406"/>
                  </a:ext>
                </a:extLst>
              </a:tr>
              <a:tr h="583548">
                <a:tc>
                  <a:txBody>
                    <a:bodyPr/>
                    <a:lstStyle/>
                    <a:p>
                      <a:r>
                        <a:rPr lang="fr-FR" dirty="0"/>
                        <a:t>RMSE 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0.009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0.0144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149260"/>
                  </a:ext>
                </a:extLst>
              </a:tr>
              <a:tr h="583548">
                <a:tc>
                  <a:txBody>
                    <a:bodyPr/>
                    <a:lstStyle/>
                    <a:p>
                      <a:r>
                        <a:rPr lang="fr-FR" dirty="0"/>
                        <a:t>SAM (°)(0) 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2.521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4.798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298774"/>
                  </a:ext>
                </a:extLst>
              </a:tr>
              <a:tr h="583548">
                <a:tc>
                  <a:txBody>
                    <a:bodyPr/>
                    <a:lstStyle/>
                    <a:p>
                      <a:r>
                        <a:rPr lang="fr-FR" dirty="0"/>
                        <a:t>UQI (1)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0.997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0.992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63092"/>
                  </a:ext>
                </a:extLst>
              </a:tr>
              <a:tr h="583548">
                <a:tc>
                  <a:txBody>
                    <a:bodyPr/>
                    <a:lstStyle/>
                    <a:p>
                      <a:r>
                        <a:rPr lang="fr-FR" dirty="0"/>
                        <a:t>ERGAS (0):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1.699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3.256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61226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D4E2385-1E77-B2F7-69A4-B0630361DB37}"/>
              </a:ext>
            </a:extLst>
          </p:cNvPr>
          <p:cNvSpPr txBox="1"/>
          <p:nvPr/>
        </p:nvSpPr>
        <p:spPr>
          <a:xfrm>
            <a:off x="2534091" y="818723"/>
            <a:ext cx="7123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Comparaison entre CNMF et HSB-SV</a:t>
            </a:r>
            <a:endParaRPr lang="en-US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9C0D7B-FA30-0074-5EAC-A5A85FF0FDCF}"/>
              </a:ext>
            </a:extLst>
          </p:cNvPr>
          <p:cNvSpPr txBox="1"/>
          <p:nvPr/>
        </p:nvSpPr>
        <p:spPr>
          <a:xfrm>
            <a:off x="4025481" y="5580232"/>
            <a:ext cx="414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 CNMF gagne sur tous les métriques.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8E50DD-C2DF-B0B6-122D-B9F726ECB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353" y="5454502"/>
            <a:ext cx="1277768" cy="127776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18B626C-56DD-4B95-3349-E8426EFE1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8033" y="-1953308"/>
            <a:ext cx="1655762" cy="165576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1287444-8345-63EB-CDC2-A97D91B4D6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62497" y="247307"/>
            <a:ext cx="1431049" cy="143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81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0B65B-ABC3-0D84-53D4-8ED1ACA1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C7CC5-B156-2EEA-DF92-702DE01AD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Démélange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Spectral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7A520-2738-5A6F-93F3-FF414A60E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Extraction des Matériaux Purs et Estimation des Abondances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F6A15-1C98-72A3-ABBB-10B0D0DF1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F272FD-E19A-A270-1B2E-0DEFCA88D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2751" y="360801"/>
            <a:ext cx="1431049" cy="143104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B635987-3202-67C9-0699-B7A3283ABA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549250" y="5202238"/>
            <a:ext cx="1655762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366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43638-3BB1-30C6-0A92-0772F0D9E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27346-F959-5D05-31BD-6AFC3A82B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2655"/>
            <a:ext cx="10515600" cy="4667250"/>
          </a:xfrm>
        </p:spPr>
        <p:txBody>
          <a:bodyPr>
            <a:normAutofit/>
          </a:bodyPr>
          <a:lstStyle/>
          <a:p>
            <a:pPr algn="just"/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: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l’image hyperspectral</a:t>
            </a:r>
            <a:r>
              <a:rPr lang="fr-FR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il peut exister des pixels composées d’un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mélange de différent matériaux purs.</a:t>
            </a:r>
          </a:p>
          <a:p>
            <a:pPr algn="just"/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 :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Décomposer les pixels mixtes en leurs matériaux purs et estimer leurs fractions d'abondance.</a:t>
            </a:r>
          </a:p>
          <a:p>
            <a:pPr algn="just"/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Méthodes :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VCA pour extraction les signatures spectrale des matériaux purs.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NMF (HALS, NNLS, LMSU) pour estimations les cartes d’abondance.</a:t>
            </a:r>
          </a:p>
          <a:p>
            <a:pPr marL="0" indent="0" algn="just"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0A7DB-1149-24BE-A002-339BA95C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24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F2ECCC-3C75-005D-71FD-F29ACBE283B3}"/>
              </a:ext>
            </a:extLst>
          </p:cNvPr>
          <p:cNvSpPr txBox="1"/>
          <p:nvPr/>
        </p:nvSpPr>
        <p:spPr>
          <a:xfrm>
            <a:off x="180752" y="208849"/>
            <a:ext cx="220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Démélange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Spectral</a:t>
            </a:r>
            <a:endParaRPr lang="en-US" b="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1598BB6-C52C-5A39-14DE-B9A13F28A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497" y="-1994929"/>
            <a:ext cx="1431049" cy="143104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1524F6A-BF37-90B2-7916-EE598D9F28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0752" y="4883150"/>
            <a:ext cx="1655762" cy="165576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57BB0C6-076E-2F2B-C7E2-F161988337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05593" y="5261144"/>
            <a:ext cx="1277768" cy="127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06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33A81-B377-4C25-0604-383F6267D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E36DC1-8B23-097E-38BE-556B5D2C5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6568"/>
            <a:ext cx="10515600" cy="17681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Vertex Component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(VCA) : 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Méthode qui recherche les points extrêmes dans la projection ​​de pixels, ces extrémités sont supposées être les pixels les plus purs.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FCD93-0954-E8A8-6401-50FA32EA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25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3DF60C-40FB-4B5B-3BE4-89273490308F}"/>
              </a:ext>
            </a:extLst>
          </p:cNvPr>
          <p:cNvSpPr txBox="1"/>
          <p:nvPr/>
        </p:nvSpPr>
        <p:spPr>
          <a:xfrm>
            <a:off x="180752" y="208849"/>
            <a:ext cx="220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Démélange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Spectral</a:t>
            </a:r>
            <a:endParaRPr lang="en-US" b="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DF8B64C-77B0-BA57-90B3-C5AE51615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9" y="7007812"/>
            <a:ext cx="1655762" cy="165576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2CCAA78-716A-B97C-00A2-3AA9EE8B36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3633" y="4584251"/>
            <a:ext cx="1277768" cy="12777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FF7B836-AF72-3D8C-416C-8E68A59D37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33969" y="4507610"/>
            <a:ext cx="1431049" cy="143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18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836AC-BE6D-5C5A-6DAE-03D98851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15D9A95-D0A4-4786-27E4-6A04A38480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976" y="832586"/>
            <a:ext cx="8817621" cy="468571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53681-BFCB-37E5-F223-C5E42C21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26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ED4CC2-61C4-D35C-CA0B-BABB43D23BFB}"/>
              </a:ext>
            </a:extLst>
          </p:cNvPr>
          <p:cNvSpPr txBox="1"/>
          <p:nvPr/>
        </p:nvSpPr>
        <p:spPr>
          <a:xfrm>
            <a:off x="180752" y="208849"/>
            <a:ext cx="220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Démélange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Spectral</a:t>
            </a:r>
            <a:endParaRPr lang="en-US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74B1F4-2C2C-01B8-DE76-1BAD44EA2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9" y="7007812"/>
            <a:ext cx="1655762" cy="165576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BB5F75B-1298-7463-0649-20BF58BF46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34116" y="4922258"/>
            <a:ext cx="1277768" cy="12777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DAE4D18-B25C-F1AF-3892-BF94663F30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933969" y="4507610"/>
            <a:ext cx="1431049" cy="14310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9A7B8F-16A5-989F-4D78-B523DE3C0B58}"/>
              </a:ext>
            </a:extLst>
          </p:cNvPr>
          <p:cNvSpPr txBox="1"/>
          <p:nvPr/>
        </p:nvSpPr>
        <p:spPr>
          <a:xfrm>
            <a:off x="3093413" y="5772702"/>
            <a:ext cx="532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Signatures spectrales des matériaux purs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634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6D34E-DCE5-644D-B470-B8FEC6E77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1EB0E2-D21A-93EF-55CE-2CB32DB5A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375"/>
            <a:ext cx="10515600" cy="46672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La NMF utilise les signatures spectrale extraits par VCA et décompose les données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hyperspectrales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deux matrices non négatives</a:t>
            </a:r>
          </a:p>
          <a:p>
            <a:pPr marL="0" indent="0" algn="just">
              <a:buNone/>
            </a:pPr>
            <a:endParaRPr lang="fr-FR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méthodes utilisée : 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HALS (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Alternating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Least Squares)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LMSU (Lee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Seung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Multiplicative Update)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NNLS (Non-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Least Squares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Alternating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520F5-6606-3214-BC48-28E538E7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27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2B131-1C6F-3477-502A-8067C9E4F823}"/>
              </a:ext>
            </a:extLst>
          </p:cNvPr>
          <p:cNvSpPr txBox="1"/>
          <p:nvPr/>
        </p:nvSpPr>
        <p:spPr>
          <a:xfrm>
            <a:off x="180752" y="208849"/>
            <a:ext cx="220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Démélange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Spectral</a:t>
            </a:r>
            <a:endParaRPr lang="en-US" b="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4A7047-C3AB-4E61-59E1-45C4A83AE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553" y="7589520"/>
            <a:ext cx="1277768" cy="127776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E64A595-EF22-3AD4-5F42-03FF39DCF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697" y="5075478"/>
            <a:ext cx="1431049" cy="143104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A96DE0A-AE6C-C531-6D7A-0DD14BA58D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320650" y="208849"/>
            <a:ext cx="1655762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99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24D64-69AD-0D8F-1F42-9909E05C5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82BFD-C665-926E-9E83-6070E0664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28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3E2B19-B265-AE4F-9CB4-508CBC1234F4}"/>
              </a:ext>
            </a:extLst>
          </p:cNvPr>
          <p:cNvSpPr txBox="1"/>
          <p:nvPr/>
        </p:nvSpPr>
        <p:spPr>
          <a:xfrm>
            <a:off x="180752" y="208849"/>
            <a:ext cx="220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Démélange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Spectral</a:t>
            </a:r>
            <a:endParaRPr lang="en-US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964012-D11A-7F51-4A86-BF55F08D9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462" y="5218102"/>
            <a:ext cx="1277768" cy="127776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03E7F3F-324E-F728-7F4F-E1C8127FA6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353611" y="5218102"/>
            <a:ext cx="1431049" cy="143104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B580CBB-D993-4108-22AF-72C3353558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320650" y="208849"/>
            <a:ext cx="1655762" cy="16557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AA3114-B111-A55A-6699-DA628CF781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331" y="208849"/>
            <a:ext cx="7655442" cy="24644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70A0A6-B2EA-6679-8C63-34E0C154C9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691" y="3891920"/>
            <a:ext cx="7258695" cy="246443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ABB7B98-AF71-390F-642C-B58B61DB6AA4}"/>
              </a:ext>
            </a:extLst>
          </p:cNvPr>
          <p:cNvSpPr txBox="1"/>
          <p:nvPr/>
        </p:nvSpPr>
        <p:spPr>
          <a:xfrm>
            <a:off x="1201479" y="834386"/>
            <a:ext cx="2838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Carte d'abondance estimé par la LMSU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E4C7A3-3771-8926-0970-0FE761DF81EF}"/>
              </a:ext>
            </a:extLst>
          </p:cNvPr>
          <p:cNvSpPr txBox="1"/>
          <p:nvPr/>
        </p:nvSpPr>
        <p:spPr>
          <a:xfrm>
            <a:off x="9523228" y="4613813"/>
            <a:ext cx="2459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Carte d'abondance estimé par la HALS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610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5B692-DD7B-7E2B-A374-EC08B96E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8923F-D6C1-1252-CA8E-22383134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29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65BA26-F019-9AFE-3C52-2EC42044AB3C}"/>
              </a:ext>
            </a:extLst>
          </p:cNvPr>
          <p:cNvSpPr txBox="1"/>
          <p:nvPr/>
        </p:nvSpPr>
        <p:spPr>
          <a:xfrm>
            <a:off x="180752" y="208849"/>
            <a:ext cx="220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Démélange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Spectral</a:t>
            </a:r>
            <a:endParaRPr lang="en-US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507501-D774-2307-BEB4-7EBF07B1E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697" y="7376160"/>
            <a:ext cx="1277768" cy="127776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69F05DB-C9EA-86C6-F181-76E8A0502E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697" y="5075478"/>
            <a:ext cx="1431049" cy="143104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AEBDFB2-38D3-B7FD-A0F0-DC7A2E7054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320650" y="208849"/>
            <a:ext cx="1655762" cy="16557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16A6B9-4117-AEC4-FBE5-51960C601E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823" y="1171906"/>
            <a:ext cx="9470815" cy="36067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4CC3AA-3F36-1460-C531-7DAC7E3B0F09}"/>
              </a:ext>
            </a:extLst>
          </p:cNvPr>
          <p:cNvSpPr txBox="1"/>
          <p:nvPr/>
        </p:nvSpPr>
        <p:spPr>
          <a:xfrm>
            <a:off x="3604437" y="5068593"/>
            <a:ext cx="5465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Carte d'abondance estimé par la NNLS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95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EF1BB-C305-5CA0-FF60-FB3BA5E5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2C371-870D-0EE6-F061-D516A32CD0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Bibliothèque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Spectrale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2B6FC-95E3-6CD5-59EE-AED08B34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30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B01D13B-2286-F363-5FE0-6A14342A6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911" y="7432161"/>
            <a:ext cx="1431049" cy="143104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BFBDA06-46C0-6D55-FD44-68CF43760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911" y="294482"/>
            <a:ext cx="1655762" cy="165576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3845231-2F2B-3443-FD33-8193F1EEF7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86393" y="5078582"/>
            <a:ext cx="1277768" cy="127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66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2929-D67F-DEC1-46CE-928093A36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8C352C-39EA-35E7-13CE-6C7365FEF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375"/>
            <a:ext cx="10515600" cy="4667250"/>
          </a:xfrm>
        </p:spPr>
        <p:txBody>
          <a:bodyPr>
            <a:normAutofit/>
          </a:bodyPr>
          <a:lstStyle/>
          <a:p>
            <a:pPr algn="just"/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: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 lieu d'applique la VCA sur tous l'image, on applique VCA sur un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taille (X,Y)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specifier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 l'utilisateur</a:t>
            </a:r>
          </a:p>
          <a:p>
            <a:pPr algn="just"/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Avantages : 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Réduction du temps de calcules.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Analyse ciblé sur une zone d'intérêt.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Extraction directe de la bibliothèque d’une image hyper sans 	passer par une bibliothèque prédéfinie.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15407-6680-76BA-25A0-99B9317B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F746AA-0199-A265-CA40-D8AD60C9AF5D}"/>
              </a:ext>
            </a:extLst>
          </p:cNvPr>
          <p:cNvSpPr txBox="1"/>
          <p:nvPr/>
        </p:nvSpPr>
        <p:spPr>
          <a:xfrm>
            <a:off x="82402" y="106973"/>
            <a:ext cx="2448147" cy="38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Bibliothèque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Spectrale</a:t>
            </a:r>
            <a:endParaRPr lang="en-US" b="1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06D5650-4BA8-B99E-499B-5CEC7901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42570" y="782638"/>
            <a:ext cx="1655762" cy="165576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4AA9BF8-F3D1-BBFC-5E64-E7A648CD86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3633" y="4584251"/>
            <a:ext cx="1277768" cy="12777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EE51B96-9295-8C24-2C4A-F808E38907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94623" y="5107863"/>
            <a:ext cx="1431049" cy="143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58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79EAF-5D3E-84D6-8321-9BD803AD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4002-49AF-7186-D9CF-24D3C2D19C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Implémentation</a:t>
            </a:r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 Raspberry 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A4C75-EEEC-CAC6-5909-FFBFFD720B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Implémentation Embarquée sur Raspberry Pi 3B/3B+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F0526-8A44-13FC-D033-22C1482C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32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53D4F94-D3BE-F128-2F56-508982AA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9116" y="7465303"/>
            <a:ext cx="1277768" cy="127776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A5C2B79-C9EC-5D5A-1CD6-322E5543F4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697" y="5075478"/>
            <a:ext cx="1431049" cy="143104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630C839-F525-67D5-B846-3470E3D785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92671" y="4700588"/>
            <a:ext cx="1655762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20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3FA3B-E353-F1F1-E0FB-4AE44FEBE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D2F81C-AB63-8659-9BDD-4CFD5CD95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72" y="996286"/>
            <a:ext cx="10515600" cy="4667250"/>
          </a:xfrm>
        </p:spPr>
        <p:txBody>
          <a:bodyPr>
            <a:normAutofit/>
          </a:bodyPr>
          <a:lstStyle/>
          <a:p>
            <a:pPr algn="just"/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 :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évaluer les performances de l’algorithme HSB-SV sur des plateformes embraquées à ressources limitées.</a:t>
            </a:r>
          </a:p>
          <a:p>
            <a:pPr algn="just"/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Plateforme :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3B/3B+</a:t>
            </a:r>
          </a:p>
          <a:p>
            <a:pPr algn="just"/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: 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Télédétection embarqué (drone, satellites légers)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Agriculture de précision.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Surveillance environnementale : pollution, incendies.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1731D-B5E7-1CCE-6081-BB3031B37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DC6E4-76D7-2FE1-5279-D91F6880A928}"/>
              </a:ext>
            </a:extLst>
          </p:cNvPr>
          <p:cNvSpPr txBox="1"/>
          <p:nvPr/>
        </p:nvSpPr>
        <p:spPr>
          <a:xfrm>
            <a:off x="124932" y="230188"/>
            <a:ext cx="3638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Implémentation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 Raspberry Pi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A1074DA-492D-25AB-9FCD-C04090667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379" y="7300518"/>
            <a:ext cx="1431049" cy="143104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CEB18F8-D930-21BB-12FF-30E7BFC5C9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0791" y="4700588"/>
            <a:ext cx="1655762" cy="165576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61701D8-C1B7-14EF-D249-92FA5F1748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60713" y="230188"/>
            <a:ext cx="1277768" cy="127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0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7F94-3222-4F4D-6BD6-EDBBC8E74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C86340-26CC-88D0-2873-4080BE6C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Résultats Expérimentaux sur Raspberry Pi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9158C-B672-838D-9495-B7A60CBC4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21" y="1825625"/>
            <a:ext cx="11069379" cy="4667250"/>
          </a:xfrm>
        </p:spPr>
        <p:txBody>
          <a:bodyPr>
            <a:normAutofit/>
          </a:bodyPr>
          <a:lstStyle/>
          <a:p>
            <a:pPr algn="just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Résultats de critères de performances: </a:t>
            </a:r>
          </a:p>
          <a:p>
            <a:pPr algn="just"/>
            <a:endParaRPr lang="fr-FR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Pi 3B+ est légèrement plus performant grâce à sa fréquence CPU supérieur mais la température des deux processeurs augment.</a:t>
            </a:r>
          </a:p>
          <a:p>
            <a:pPr algn="just"/>
            <a:endParaRPr lang="fr-FR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C8C3B-BA01-3C55-EC9A-7DD27BAE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34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E1234-E056-3B71-5012-63323A896A38}"/>
              </a:ext>
            </a:extLst>
          </p:cNvPr>
          <p:cNvSpPr txBox="1"/>
          <p:nvPr/>
        </p:nvSpPr>
        <p:spPr>
          <a:xfrm>
            <a:off x="284421" y="230188"/>
            <a:ext cx="3713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Implémentation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 Raspberry Pi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BE1CD3-32C1-CB77-3C2F-92A93DDD318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621712"/>
          <a:ext cx="9975110" cy="1918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022">
                  <a:extLst>
                    <a:ext uri="{9D8B030D-6E8A-4147-A177-3AD203B41FA5}">
                      <a16:colId xmlns:a16="http://schemas.microsoft.com/office/drawing/2014/main" val="2984199193"/>
                    </a:ext>
                  </a:extLst>
                </a:gridCol>
                <a:gridCol w="1995022">
                  <a:extLst>
                    <a:ext uri="{9D8B030D-6E8A-4147-A177-3AD203B41FA5}">
                      <a16:colId xmlns:a16="http://schemas.microsoft.com/office/drawing/2014/main" val="3260266399"/>
                    </a:ext>
                  </a:extLst>
                </a:gridCol>
                <a:gridCol w="1995022">
                  <a:extLst>
                    <a:ext uri="{9D8B030D-6E8A-4147-A177-3AD203B41FA5}">
                      <a16:colId xmlns:a16="http://schemas.microsoft.com/office/drawing/2014/main" val="515896041"/>
                    </a:ext>
                  </a:extLst>
                </a:gridCol>
                <a:gridCol w="1995022">
                  <a:extLst>
                    <a:ext uri="{9D8B030D-6E8A-4147-A177-3AD203B41FA5}">
                      <a16:colId xmlns:a16="http://schemas.microsoft.com/office/drawing/2014/main" val="2144989019"/>
                    </a:ext>
                  </a:extLst>
                </a:gridCol>
                <a:gridCol w="1995022">
                  <a:extLst>
                    <a:ext uri="{9D8B030D-6E8A-4147-A177-3AD203B41FA5}">
                      <a16:colId xmlns:a16="http://schemas.microsoft.com/office/drawing/2014/main" val="2722502550"/>
                    </a:ext>
                  </a:extLst>
                </a:gridCol>
              </a:tblGrid>
              <a:tr h="633596">
                <a:tc>
                  <a:txBody>
                    <a:bodyPr/>
                    <a:lstStyle/>
                    <a:p>
                      <a:r>
                        <a:rPr lang="fr-FR" dirty="0"/>
                        <a:t>Plateforme 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Temps (s) 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CPU (%) 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RAM (MB) 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 :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736964"/>
                  </a:ext>
                </a:extLst>
              </a:tr>
              <a:tr h="642396">
                <a:tc>
                  <a:txBody>
                    <a:bodyPr/>
                    <a:lstStyle/>
                    <a:p>
                      <a:r>
                        <a:rPr lang="fr-FR" dirty="0"/>
                        <a:t>Pi 3B 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46.28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176.62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6.16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augmente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825936"/>
                  </a:ext>
                </a:extLst>
              </a:tr>
              <a:tr h="642396">
                <a:tc>
                  <a:txBody>
                    <a:bodyPr/>
                    <a:lstStyle/>
                    <a:p>
                      <a:r>
                        <a:rPr lang="fr-FR" dirty="0"/>
                        <a:t>Pi 3B+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45.02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160.55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5.34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augmente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800594"/>
                  </a:ext>
                </a:extLst>
              </a:tr>
            </a:tbl>
          </a:graphicData>
        </a:graphic>
      </p:graphicFrame>
      <p:pic>
        <p:nvPicPr>
          <p:cNvPr id="2" name="Graphic 1">
            <a:extLst>
              <a:ext uri="{FF2B5EF4-FFF2-40B4-BE49-F238E27FC236}">
                <a16:creationId xmlns:a16="http://schemas.microsoft.com/office/drawing/2014/main" id="{F6EDFDE8-1B61-2253-1AC0-4031F132F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6911" y="7137242"/>
            <a:ext cx="1655762" cy="165576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8D66CBA-D3C0-852E-6A57-24AC7F0EE1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32593" y="497177"/>
            <a:ext cx="1277768" cy="127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15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2882-EC9C-D293-85AD-56741A0A2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00A5D-4370-B799-4885-34E89F635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637F0-447B-F2A7-0AD1-1BAC09577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80474-F343-41EC-8C2B-5396EF099E8F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040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1133</Words>
  <Application>Microsoft Office PowerPoint</Application>
  <PresentationFormat>Widescreen</PresentationFormat>
  <Paragraphs>255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Times New Roman</vt:lpstr>
      <vt:lpstr>Office Theme</vt:lpstr>
      <vt:lpstr>PowerPoint Presentation</vt:lpstr>
      <vt:lpstr>Introduction</vt:lpstr>
      <vt:lpstr>PowerPoint Presentation</vt:lpstr>
      <vt:lpstr>PowerPoint Presentation</vt:lpstr>
      <vt:lpstr>HyperView</vt:lpstr>
      <vt:lpstr>Objectifs Spécifiques :</vt:lpstr>
      <vt:lpstr>Interface Utilisateur (UI)</vt:lpstr>
      <vt:lpstr>Chargement des Données</vt:lpstr>
      <vt:lpstr>Visualisation Interactive</vt:lpstr>
      <vt:lpstr>Prétraitement</vt:lpstr>
      <vt:lpstr>Architecture et Extensibilité</vt:lpstr>
      <vt:lpstr>Architecture Générale :</vt:lpstr>
      <vt:lpstr>LST</vt:lpstr>
      <vt:lpstr>Importance de la LST :</vt:lpstr>
      <vt:lpstr>Méthodologie</vt:lpstr>
      <vt:lpstr>Example de LST sur la carte d’Oran</vt:lpstr>
      <vt:lpstr>Fusion d'Images</vt:lpstr>
      <vt:lpstr>PowerPoint Presentation</vt:lpstr>
      <vt:lpstr>PowerPoint Presentation</vt:lpstr>
      <vt:lpstr>PowerPoint Presentation</vt:lpstr>
      <vt:lpstr>  Résultats du Fusion</vt:lpstr>
      <vt:lpstr>PowerPoint Presentation</vt:lpstr>
      <vt:lpstr>Démélange Spectral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Bibliothèque Spectrale</vt:lpstr>
      <vt:lpstr>PowerPoint Presentation</vt:lpstr>
      <vt:lpstr>Implémentation sur Raspberry Pi</vt:lpstr>
      <vt:lpstr>PowerPoint Presentation</vt:lpstr>
      <vt:lpstr>Résultats Expérimentaux sur Raspberry Pi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wassim louchene</dc:creator>
  <cp:lastModifiedBy>Dali Fethi Abdellatif</cp:lastModifiedBy>
  <cp:revision>26</cp:revision>
  <dcterms:created xsi:type="dcterms:W3CDTF">2025-06-18T23:16:03Z</dcterms:created>
  <dcterms:modified xsi:type="dcterms:W3CDTF">2025-06-21T08:48:03Z</dcterms:modified>
</cp:coreProperties>
</file>